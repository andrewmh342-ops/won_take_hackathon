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주장" id="{56ba42f5-cb02-4b3c-de7f-83839a823d1b}">
          <p14:sldIdLst>
            <p14:sldId id="256"/>
          </p14:sldIdLst>
        </p14:section>
        <p14:section name="근거" id="{4459c256-e5cf-64ae-0f03-26c8387e9d0c}">
          <p14:sldIdLst>
            <p14:sldId id="257"/>
            <p14:sldId id="258"/>
          </p14:sldIdLst>
        </p14:section>
        <p14:section name="해결" id="{56c3362c-c221-628c-b662-b553e5834601}">
          <p14:sldIdLst>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 주장은 한 줄입니다. 금융앱에서 막힌 고객을, 고객이 찾거나 묻기 전에 먼저 다가가 해결까지 끊기지 않게 이끌어야 한다. 이를 네 단계 R1~R4로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아이디어보다 불편을 먼저 모았습니다. 4개 앱의 낮은 별점 리뷰 20건을 직접 읽었고, 네 가지 불편으로 모였습니다. 가장 많은 것은 업데이트 후 기능을 못 찾는다는 불만으로 20건 중 7건이었습니다.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불편의 뿌리는 같습니다. 지금은 고객이 먼저 찾고, 묻고, 설명해야 해결이 시작됩니다. 그래서 앱에 익숙한 사람만 해결합니다. 숙련도 편차는 가설이며 시연에서 확인하려 합니다. 대상은 우리WON뱅킹에서 업무를 직접 하려는데 해결 경로를 찾기 어려운 고객입니다.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해결은 네 단계가 끊기지 않고 이어지는 원테이크입니다. 먼저 알리고, 먼저 묻고, 말로 해결하고, 그래도 안 되면 대화를 넘깁니다. 단계마다 통과와 실패를 가를 수 있는 기준을 정해 SPEC에 예시표로 남겼습니다.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선택에는 이유가 있습니다. 못 찾는 사람은 질문도 못 하기 때문에 먼저 다가갑니다. 생활 언어 이해와 대화 요약은 규칙만으로 어렵기 때문에 AI가 필요합니다. 빠른 AI가 신뢰를 잃은 사례가 있어서, 안내 범위와 고객 확인을 먼저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WON테이크 · 주제 검토</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bg2"/>
                </a:solidFill>
              </a:rPr>
              <a:t>WON테이크 · 주제 검토</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1-kicker"/>
          <p:cNvSpPr txBox="1"/>
          <p:nvPr/>
        </p:nvSpPr>
        <p:spPr>
          <a:xfrm>
            <a:off x="548640" y="822960"/>
            <a:ext cx="5486400" cy="411480"/>
          </a:xfrm>
          <a:prstGeom prst="rect">
            <a:avLst/>
          </a:prstGeom>
          <a:noFill/>
          <a:ln/>
        </p:spPr>
        <p:txBody>
          <a:bodyPr wrap="square" lIns="1270" tIns="1270" rIns="1270" bIns="1270" rtlCol="0" anchor="t"/>
          <a:lstStyle/>
          <a:p>
            <a:pPr indent="0" marL="0">
              <a:buNone/>
            </a:pPr>
            <a:r>
              <a:rPr lang="en-US" sz="1600" b="1" dirty="0">
                <a:solidFill>
                  <a:schemeClr val="accent4"/>
                </a:solidFill>
              </a:rPr>
              <a:t>AX 해커톤 · 주제 검토</a:t>
            </a:r>
            <a:endParaRPr lang="en-US" sz="1600" dirty="0"/>
          </a:p>
        </p:txBody>
      </p:sp>
      <p:sp>
        <p:nvSpPr>
          <p:cNvPr id="3" name="s1-title"/>
          <p:cNvSpPr txBox="1"/>
          <p:nvPr/>
        </p:nvSpPr>
        <p:spPr>
          <a:xfrm>
            <a:off x="548640" y="1280160"/>
            <a:ext cx="7315200" cy="1188720"/>
          </a:xfrm>
          <a:prstGeom prst="rect">
            <a:avLst/>
          </a:prstGeom>
          <a:noFill/>
          <a:ln/>
        </p:spPr>
        <p:txBody>
          <a:bodyPr wrap="square" lIns="1270" tIns="1270" rIns="1270" bIns="1270" rtlCol="0" anchor="t"/>
          <a:lstStyle/>
          <a:p>
            <a:pPr indent="0" marL="0">
              <a:buNone/>
            </a:pPr>
            <a:r>
              <a:rPr lang="en-US" sz="6000" b="1" dirty="0">
                <a:solidFill>
                  <a:schemeClr val="bg1"/>
                </a:solidFill>
              </a:rPr>
              <a:t>WON테이크</a:t>
            </a:r>
            <a:endParaRPr lang="en-US" sz="6000" dirty="0"/>
          </a:p>
        </p:txBody>
      </p:sp>
      <p:sp>
        <p:nvSpPr>
          <p:cNvPr id="4" name="s1-sub"/>
          <p:cNvSpPr txBox="1"/>
          <p:nvPr/>
        </p:nvSpPr>
        <p:spPr>
          <a:xfrm>
            <a:off x="548640" y="2514600"/>
            <a:ext cx="11094415" cy="594360"/>
          </a:xfrm>
          <a:prstGeom prst="rect">
            <a:avLst/>
          </a:prstGeom>
          <a:noFill/>
          <a:ln/>
        </p:spPr>
        <p:txBody>
          <a:bodyPr wrap="square" lIns="1270" tIns="1270" rIns="1270" bIns="1270" rtlCol="0" anchor="t"/>
          <a:lstStyle/>
          <a:p>
            <a:pPr indent="0" marL="0">
              <a:buNone/>
            </a:pPr>
            <a:r>
              <a:rPr lang="en-US" sz="2400" dirty="0">
                <a:solidFill>
                  <a:schemeClr val="bg1"/>
                </a:solidFill>
              </a:rPr>
              <a:t>금융앱에서 막힌 고객을 해결까지 한 번에 이끄는 AI</a:t>
            </a:r>
            <a:endParaRPr lang="en-US" sz="2400" dirty="0"/>
          </a:p>
        </p:txBody>
      </p:sp>
      <p:sp>
        <p:nvSpPr>
          <p:cNvPr id="5" name="s1-uvp"/>
          <p:cNvSpPr txBox="1"/>
          <p:nvPr/>
        </p:nvSpPr>
        <p:spPr>
          <a:xfrm>
            <a:off x="548640" y="3154680"/>
            <a:ext cx="11094415" cy="502920"/>
          </a:xfrm>
          <a:prstGeom prst="rect">
            <a:avLst/>
          </a:prstGeom>
          <a:noFill/>
          <a:ln/>
        </p:spPr>
        <p:txBody>
          <a:bodyPr wrap="square" lIns="1270" tIns="1270" rIns="1270" bIns="1270" rtlCol="0" anchor="t"/>
          <a:lstStyle/>
          <a:p>
            <a:pPr indent="0" marL="0">
              <a:buNone/>
            </a:pPr>
            <a:r>
              <a:rPr lang="en-US" sz="2000" i="1" dirty="0">
                <a:solidFill>
                  <a:schemeClr val="bg2"/>
                </a:solidFill>
              </a:rPr>
              <a:t>“찾기 전에 먼저, 해결될 때까지 끊김 없이”</a:t>
            </a:r>
            <a:endParaRPr lang="en-US" sz="2000" dirty="0"/>
          </a:p>
        </p:txBody>
      </p:sp>
      <p:sp>
        <p:nvSpPr>
          <p:cNvPr id="6" name="s1-line"/>
          <p:cNvSpPr/>
          <p:nvPr/>
        </p:nvSpPr>
        <p:spPr>
          <a:xfrm>
            <a:off x="1935442" y="4709160"/>
            <a:ext cx="8320811" cy="0"/>
          </a:xfrm>
          <a:prstGeom prst="line">
            <a:avLst/>
          </a:prstGeom>
          <a:noFill/>
          <a:ln w="38100">
            <a:solidFill>
              <a:srgbClr val="1E6FD9"/>
            </a:solidFill>
            <a:prstDash val="solid"/>
          </a:ln>
        </p:spPr>
      </p:sp>
      <p:sp>
        <p:nvSpPr>
          <p:cNvPr id="7" name="s1-b0"/>
          <p:cNvSpPr/>
          <p:nvPr/>
        </p:nvSpPr>
        <p:spPr>
          <a:xfrm>
            <a:off x="1569682" y="4343400"/>
            <a:ext cx="731520" cy="731520"/>
          </a:xfrm>
          <a:prstGeom prst="ellipse">
            <a:avLst/>
          </a:prstGeom>
          <a:solidFill>
            <a:schemeClr val="accent1"/>
          </a:solidFill>
          <a:ln w="12700">
            <a:solidFill>
              <a:schemeClr val="accent1"/>
            </a:solidFill>
            <a:prstDash val="solid"/>
          </a:ln>
        </p:spPr>
      </p:sp>
      <p:sp>
        <p:nvSpPr>
          <p:cNvPr id="8" name="s1-b0-t"/>
          <p:cNvSpPr txBox="1"/>
          <p:nvPr/>
        </p:nvSpPr>
        <p:spPr>
          <a:xfrm>
            <a:off x="1569682" y="434340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R1</a:t>
            </a:r>
            <a:endParaRPr lang="en-US" sz="1800" dirty="0"/>
          </a:p>
        </p:txBody>
      </p:sp>
      <p:sp>
        <p:nvSpPr>
          <p:cNvPr id="9" name="s1-l0"/>
          <p:cNvSpPr txBox="1"/>
          <p:nvPr/>
        </p:nvSpPr>
        <p:spPr>
          <a:xfrm>
            <a:off x="548640" y="5212080"/>
            <a:ext cx="2773604" cy="457200"/>
          </a:xfrm>
          <a:prstGeom prst="rect">
            <a:avLst/>
          </a:prstGeom>
          <a:noFill/>
          <a:ln/>
        </p:spPr>
        <p:txBody>
          <a:bodyPr wrap="square" lIns="1270" tIns="1270" rIns="1270" bIns="1270" rtlCol="0" anchor="t"/>
          <a:lstStyle/>
          <a:p>
            <a:pPr algn="ctr" indent="0" marL="0">
              <a:buNone/>
            </a:pPr>
            <a:r>
              <a:rPr lang="en-US" sz="1800" b="1" dirty="0">
                <a:solidFill>
                  <a:schemeClr val="bg1"/>
                </a:solidFill>
              </a:rPr>
              <a:t>먼저 알린다</a:t>
            </a:r>
            <a:endParaRPr lang="en-US" sz="1800" dirty="0"/>
          </a:p>
        </p:txBody>
      </p:sp>
      <p:sp>
        <p:nvSpPr>
          <p:cNvPr id="10" name="s1-b1"/>
          <p:cNvSpPr/>
          <p:nvPr/>
        </p:nvSpPr>
        <p:spPr>
          <a:xfrm>
            <a:off x="4343286" y="4343400"/>
            <a:ext cx="731520" cy="731520"/>
          </a:xfrm>
          <a:prstGeom prst="ellipse">
            <a:avLst/>
          </a:prstGeom>
          <a:solidFill>
            <a:schemeClr val="accent1"/>
          </a:solidFill>
          <a:ln w="12700">
            <a:solidFill>
              <a:schemeClr val="accent1"/>
            </a:solidFill>
            <a:prstDash val="solid"/>
          </a:ln>
        </p:spPr>
      </p:sp>
      <p:sp>
        <p:nvSpPr>
          <p:cNvPr id="11" name="s1-b1-t"/>
          <p:cNvSpPr txBox="1"/>
          <p:nvPr/>
        </p:nvSpPr>
        <p:spPr>
          <a:xfrm>
            <a:off x="4343286" y="434340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R2</a:t>
            </a:r>
            <a:endParaRPr lang="en-US" sz="1800" dirty="0"/>
          </a:p>
        </p:txBody>
      </p:sp>
      <p:sp>
        <p:nvSpPr>
          <p:cNvPr id="12" name="s1-l1"/>
          <p:cNvSpPr txBox="1"/>
          <p:nvPr/>
        </p:nvSpPr>
        <p:spPr>
          <a:xfrm>
            <a:off x="3322244" y="5212080"/>
            <a:ext cx="2773604" cy="457200"/>
          </a:xfrm>
          <a:prstGeom prst="rect">
            <a:avLst/>
          </a:prstGeom>
          <a:noFill/>
          <a:ln/>
        </p:spPr>
        <p:txBody>
          <a:bodyPr wrap="square" lIns="1270" tIns="1270" rIns="1270" bIns="1270" rtlCol="0" anchor="t"/>
          <a:lstStyle/>
          <a:p>
            <a:pPr algn="ctr" indent="0" marL="0">
              <a:buNone/>
            </a:pPr>
            <a:r>
              <a:rPr lang="en-US" sz="1800" b="1" dirty="0">
                <a:solidFill>
                  <a:schemeClr val="bg1"/>
                </a:solidFill>
              </a:rPr>
              <a:t>먼저 묻는다</a:t>
            </a:r>
            <a:endParaRPr lang="en-US" sz="1800" dirty="0"/>
          </a:p>
        </p:txBody>
      </p:sp>
      <p:sp>
        <p:nvSpPr>
          <p:cNvPr id="13" name="s1-b2"/>
          <p:cNvSpPr/>
          <p:nvPr/>
        </p:nvSpPr>
        <p:spPr>
          <a:xfrm>
            <a:off x="7116890" y="4343400"/>
            <a:ext cx="731520" cy="731520"/>
          </a:xfrm>
          <a:prstGeom prst="ellipse">
            <a:avLst/>
          </a:prstGeom>
          <a:solidFill>
            <a:schemeClr val="accent1"/>
          </a:solidFill>
          <a:ln w="12700">
            <a:solidFill>
              <a:schemeClr val="accent1"/>
            </a:solidFill>
            <a:prstDash val="solid"/>
          </a:ln>
        </p:spPr>
      </p:sp>
      <p:sp>
        <p:nvSpPr>
          <p:cNvPr id="14" name="s1-b2-t"/>
          <p:cNvSpPr txBox="1"/>
          <p:nvPr/>
        </p:nvSpPr>
        <p:spPr>
          <a:xfrm>
            <a:off x="7116890" y="434340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R3</a:t>
            </a:r>
            <a:endParaRPr lang="en-US" sz="1800" dirty="0"/>
          </a:p>
        </p:txBody>
      </p:sp>
      <p:sp>
        <p:nvSpPr>
          <p:cNvPr id="15" name="s1-l2"/>
          <p:cNvSpPr txBox="1"/>
          <p:nvPr/>
        </p:nvSpPr>
        <p:spPr>
          <a:xfrm>
            <a:off x="6095848" y="5212080"/>
            <a:ext cx="2773604" cy="457200"/>
          </a:xfrm>
          <a:prstGeom prst="rect">
            <a:avLst/>
          </a:prstGeom>
          <a:noFill/>
          <a:ln/>
        </p:spPr>
        <p:txBody>
          <a:bodyPr wrap="square" lIns="1270" tIns="1270" rIns="1270" bIns="1270" rtlCol="0" anchor="t"/>
          <a:lstStyle/>
          <a:p>
            <a:pPr algn="ctr" indent="0" marL="0">
              <a:buNone/>
            </a:pPr>
            <a:r>
              <a:rPr lang="en-US" sz="1800" b="1" dirty="0">
                <a:solidFill>
                  <a:schemeClr val="bg1"/>
                </a:solidFill>
              </a:rPr>
              <a:t>말로 해결한다</a:t>
            </a:r>
            <a:endParaRPr lang="en-US" sz="1800" dirty="0"/>
          </a:p>
        </p:txBody>
      </p:sp>
      <p:sp>
        <p:nvSpPr>
          <p:cNvPr id="16" name="s1-b3"/>
          <p:cNvSpPr/>
          <p:nvPr/>
        </p:nvSpPr>
        <p:spPr>
          <a:xfrm>
            <a:off x="9890493" y="4343400"/>
            <a:ext cx="731520" cy="731520"/>
          </a:xfrm>
          <a:prstGeom prst="ellipse">
            <a:avLst/>
          </a:prstGeom>
          <a:solidFill>
            <a:schemeClr val="accent3"/>
          </a:solidFill>
          <a:ln w="12700">
            <a:solidFill>
              <a:schemeClr val="accent3"/>
            </a:solidFill>
            <a:prstDash val="solid"/>
          </a:ln>
        </p:spPr>
      </p:sp>
      <p:sp>
        <p:nvSpPr>
          <p:cNvPr id="17" name="s1-b3-t"/>
          <p:cNvSpPr txBox="1"/>
          <p:nvPr/>
        </p:nvSpPr>
        <p:spPr>
          <a:xfrm>
            <a:off x="9890493" y="434340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R4</a:t>
            </a:r>
            <a:endParaRPr lang="en-US" sz="1800" dirty="0"/>
          </a:p>
        </p:txBody>
      </p:sp>
      <p:sp>
        <p:nvSpPr>
          <p:cNvPr id="18" name="s1-l3"/>
          <p:cNvSpPr txBox="1"/>
          <p:nvPr/>
        </p:nvSpPr>
        <p:spPr>
          <a:xfrm>
            <a:off x="8869451" y="5212080"/>
            <a:ext cx="2773604" cy="457200"/>
          </a:xfrm>
          <a:prstGeom prst="rect">
            <a:avLst/>
          </a:prstGeom>
          <a:noFill/>
          <a:ln/>
        </p:spPr>
        <p:txBody>
          <a:bodyPr wrap="square" lIns="1270" tIns="1270" rIns="1270" bIns="1270" rtlCol="0" anchor="t"/>
          <a:lstStyle/>
          <a:p>
            <a:pPr algn="ctr" indent="0" marL="0">
              <a:buNone/>
            </a:pPr>
            <a:r>
              <a:rPr lang="en-US" sz="1800" b="1" dirty="0">
                <a:solidFill>
                  <a:schemeClr val="bg1"/>
                </a:solidFill>
              </a:rPr>
              <a:t>이어서 넘긴다</a:t>
            </a:r>
            <a:endParaRPr lang="en-US" sz="1800" dirty="0"/>
          </a:p>
        </p:txBody>
      </p:sp>
      <p:sp>
        <p:nvSpPr>
          <p:cNvPr id="19" name="s1-foot"/>
          <p:cNvSpPr txBox="1"/>
          <p:nvPr/>
        </p:nvSpPr>
        <p:spPr>
          <a:xfrm>
            <a:off x="548640" y="6172200"/>
            <a:ext cx="6400800" cy="365760"/>
          </a:xfrm>
          <a:prstGeom prst="rect">
            <a:avLst/>
          </a:prstGeom>
          <a:noFill/>
          <a:ln/>
        </p:spPr>
        <p:txBody>
          <a:bodyPr wrap="square" lIns="1270" tIns="1270" rIns="1270" bIns="1270" rtlCol="0" anchor="t"/>
          <a:lstStyle/>
          <a:p>
            <a:pPr indent="0" marL="0">
              <a:buNone/>
            </a:pPr>
            <a:r>
              <a:rPr lang="en-US" sz="1200" dirty="0">
                <a:solidFill>
                  <a:schemeClr val="bg2"/>
                </a:solidFill>
              </a:rPr>
              <a:t>우리 WON 청년 IT 아카데미 · 2026.10.26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chemeClr val="tx2"/>
                </a:solidFill>
              </a:rPr>
              <a:t>금융앱 리뷰 20건에서 찾은 불편</a:t>
            </a:r>
            <a:endParaRPr lang="en-US" sz="3200" dirty="0"/>
          </a:p>
        </p:txBody>
      </p:sp>
      <p:sp>
        <p:nvSpPr>
          <p:cNvPr id="3" name="s2-stat"/>
          <p:cNvSpPr/>
          <p:nvPr/>
        </p:nvSpPr>
        <p:spPr>
          <a:xfrm>
            <a:off x="548640" y="1371600"/>
            <a:ext cx="11094415" cy="1051560"/>
          </a:xfrm>
          <a:prstGeom prst="roundRect">
            <a:avLst>
              <a:gd name="adj" fmla="val 10435"/>
            </a:avLst>
          </a:prstGeom>
          <a:solidFill>
            <a:schemeClr val="tx2"/>
          </a:solidFill>
          <a:ln w="12700">
            <a:solidFill>
              <a:schemeClr val="tx2"/>
            </a:solidFill>
            <a:prstDash val="solid"/>
          </a:ln>
        </p:spPr>
      </p:sp>
      <p:sp>
        <p:nvSpPr>
          <p:cNvPr id="4" name="s2-stat-n"/>
          <p:cNvSpPr txBox="1"/>
          <p:nvPr/>
        </p:nvSpPr>
        <p:spPr>
          <a:xfrm>
            <a:off x="822960" y="1371600"/>
            <a:ext cx="2194560" cy="1051560"/>
          </a:xfrm>
          <a:prstGeom prst="rect">
            <a:avLst/>
          </a:prstGeom>
          <a:noFill/>
          <a:ln/>
        </p:spPr>
        <p:txBody>
          <a:bodyPr wrap="square" lIns="1270" tIns="1270" rIns="1270" bIns="1270" rtlCol="0" anchor="ctr"/>
          <a:lstStyle/>
          <a:p>
            <a:pPr indent="0" marL="0">
              <a:buNone/>
            </a:pPr>
            <a:r>
              <a:rPr lang="en-US" sz="4800" b="1" dirty="0">
                <a:solidFill>
                  <a:schemeClr val="bg1"/>
                </a:solidFill>
              </a:rPr>
              <a:t>7</a:t>
            </a:r>
            <a:pPr indent="0" marL="0">
              <a:buNone/>
            </a:pPr>
            <a:r>
              <a:rPr lang="en-US" sz="2400" b="1" dirty="0">
                <a:solidFill>
                  <a:schemeClr val="bg2"/>
                </a:solidFill>
              </a:rPr>
              <a:t> / 20</a:t>
            </a:r>
            <a:endParaRPr lang="en-US" sz="2400" dirty="0"/>
          </a:p>
        </p:txBody>
      </p:sp>
      <p:sp>
        <p:nvSpPr>
          <p:cNvPr id="5" name="s2-stat-l"/>
          <p:cNvSpPr txBox="1"/>
          <p:nvPr/>
        </p:nvSpPr>
        <p:spPr>
          <a:xfrm>
            <a:off x="3108960" y="1371600"/>
            <a:ext cx="8259775" cy="594360"/>
          </a:xfrm>
          <a:prstGeom prst="rect">
            <a:avLst/>
          </a:prstGeom>
          <a:noFill/>
          <a:ln/>
        </p:spPr>
        <p:txBody>
          <a:bodyPr wrap="square" lIns="1270" tIns="1270" rIns="1270" bIns="1270" rtlCol="0" anchor="b"/>
          <a:lstStyle/>
          <a:p>
            <a:pPr indent="0" marL="0">
              <a:buNone/>
            </a:pPr>
            <a:r>
              <a:rPr lang="en-US" sz="2000" b="1" dirty="0">
                <a:solidFill>
                  <a:schemeClr val="bg1"/>
                </a:solidFill>
              </a:rPr>
              <a:t>가장 많은 불만은 ‘업데이트 후 기능을 못 찾는다’였다</a:t>
            </a:r>
            <a:endParaRPr lang="en-US" sz="2000" dirty="0"/>
          </a:p>
        </p:txBody>
      </p:sp>
      <p:sp>
        <p:nvSpPr>
          <p:cNvPr id="6" name="s2-stat-c"/>
          <p:cNvSpPr txBox="1"/>
          <p:nvPr/>
        </p:nvSpPr>
        <p:spPr>
          <a:xfrm>
            <a:off x="3108960" y="1965960"/>
            <a:ext cx="8259775" cy="411480"/>
          </a:xfrm>
          <a:prstGeom prst="rect">
            <a:avLst/>
          </a:prstGeom>
          <a:noFill/>
          <a:ln/>
        </p:spPr>
        <p:txBody>
          <a:bodyPr wrap="square" lIns="1270" tIns="1270" rIns="1270" bIns="1270" rtlCol="0" anchor="t"/>
          <a:lstStyle/>
          <a:p>
            <a:pPr indent="0" marL="0">
              <a:buNone/>
            </a:pPr>
            <a:r>
              <a:rPr lang="en-US" sz="1200" dirty="0">
                <a:solidFill>
                  <a:schemeClr val="bg2"/>
                </a:solidFill>
              </a:rPr>
              <a:t>우리WON뱅킹 · 우리카드 · KB국민 · 신한 SOL페이의 1~2점 리뷰를 앱마다 5건씩 직접 읽고 분류 (팀 분석)</a:t>
            </a:r>
            <a:endParaRPr lang="en-US" sz="1200" dirty="0"/>
          </a:p>
        </p:txBody>
      </p:sp>
      <p:sp>
        <p:nvSpPr>
          <p:cNvPr id="7" name="s2-card0"/>
          <p:cNvSpPr/>
          <p:nvPr/>
        </p:nvSpPr>
        <p:spPr>
          <a:xfrm>
            <a:off x="548640" y="2697480"/>
            <a:ext cx="5410048" cy="1737360"/>
          </a:xfrm>
          <a:prstGeom prst="roundRect">
            <a:avLst>
              <a:gd name="adj" fmla="val 6316"/>
            </a:avLst>
          </a:prstGeom>
          <a:solidFill>
            <a:schemeClr val="bg2"/>
          </a:solidFill>
          <a:ln w="12700">
            <a:solidFill>
              <a:schemeClr val="bg2"/>
            </a:solidFill>
            <a:prstDash val="solid"/>
          </a:ln>
        </p:spPr>
      </p:sp>
      <p:sp>
        <p:nvSpPr>
          <p:cNvPr id="8" name="s2-b0"/>
          <p:cNvSpPr/>
          <p:nvPr/>
        </p:nvSpPr>
        <p:spPr>
          <a:xfrm>
            <a:off x="822960" y="2926080"/>
            <a:ext cx="457200" cy="457200"/>
          </a:xfrm>
          <a:prstGeom prst="ellipse">
            <a:avLst/>
          </a:prstGeom>
          <a:solidFill>
            <a:schemeClr val="accent2"/>
          </a:solidFill>
          <a:ln w="12700">
            <a:solidFill>
              <a:schemeClr val="accent2"/>
            </a:solidFill>
            <a:prstDash val="solid"/>
          </a:ln>
        </p:spPr>
      </p:sp>
      <p:sp>
        <p:nvSpPr>
          <p:cNvPr id="9" name="s2-b0-t"/>
          <p:cNvSpPr txBox="1"/>
          <p:nvPr/>
        </p:nvSpPr>
        <p:spPr>
          <a:xfrm>
            <a:off x="822960" y="29260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0" name="s2-h0"/>
          <p:cNvSpPr txBox="1"/>
          <p:nvPr/>
        </p:nvSpPr>
        <p:spPr>
          <a:xfrm>
            <a:off x="1417320" y="2880360"/>
            <a:ext cx="4312768" cy="548640"/>
          </a:xfrm>
          <a:prstGeom prst="rect">
            <a:avLst/>
          </a:prstGeom>
          <a:noFill/>
          <a:ln/>
        </p:spPr>
        <p:txBody>
          <a:bodyPr wrap="square" lIns="1270" tIns="1270" rIns="1270" bIns="1270" rtlCol="0" anchor="ctr"/>
          <a:lstStyle/>
          <a:p>
            <a:pPr indent="0" marL="0">
              <a:buNone/>
            </a:pPr>
            <a:r>
              <a:rPr lang="en-US" sz="1800" b="1" dirty="0">
                <a:solidFill>
                  <a:schemeClr val="tx2"/>
                </a:solidFill>
              </a:rPr>
              <a:t>업데이트 후 기능을 못 찾음</a:t>
            </a:r>
            <a:endParaRPr lang="en-US" sz="1800" dirty="0"/>
          </a:p>
        </p:txBody>
      </p:sp>
      <p:sp>
        <p:nvSpPr>
          <p:cNvPr id="11" name="s2-p0"/>
          <p:cNvSpPr txBox="1"/>
          <p:nvPr/>
        </p:nvSpPr>
        <p:spPr>
          <a:xfrm>
            <a:off x="822960" y="3447288"/>
            <a:ext cx="4861408" cy="585216"/>
          </a:xfrm>
          <a:prstGeom prst="rect">
            <a:avLst/>
          </a:prstGeom>
          <a:noFill/>
          <a:ln/>
        </p:spPr>
        <p:txBody>
          <a:bodyPr wrap="square" lIns="1270" tIns="1270" rIns="1270" bIns="1270" rtlCol="0" anchor="t"/>
          <a:lstStyle/>
          <a:p>
            <a:pPr indent="0" marL="0">
              <a:buNone/>
            </a:pPr>
            <a:r>
              <a:rPr lang="en-US" sz="1400" dirty="0">
                <a:solidFill>
                  <a:schemeClr val="tx1"/>
                </a:solidFill>
              </a:rPr>
              <a:t>잘 쓰던 기능이 어디로 갔는지 알 길이 없다</a:t>
            </a:r>
            <a:endParaRPr lang="en-US" sz="1400" dirty="0"/>
          </a:p>
        </p:txBody>
      </p:sp>
      <p:sp>
        <p:nvSpPr>
          <p:cNvPr id="12" name="s2-s0"/>
          <p:cNvSpPr txBox="1"/>
          <p:nvPr/>
        </p:nvSpPr>
        <p:spPr>
          <a:xfrm>
            <a:off x="822960" y="3995928"/>
            <a:ext cx="4861408" cy="365760"/>
          </a:xfrm>
          <a:prstGeom prst="rect">
            <a:avLst/>
          </a:prstGeom>
          <a:noFill/>
          <a:ln/>
        </p:spPr>
        <p:txBody>
          <a:bodyPr wrap="square" lIns="1270" tIns="1270" rIns="1270" bIns="1270" rtlCol="0" anchor="t"/>
          <a:lstStyle/>
          <a:p>
            <a:pPr indent="0" marL="0">
              <a:buNone/>
            </a:pPr>
            <a:r>
              <a:rPr lang="en-US" sz="1100" dirty="0">
                <a:solidFill>
                  <a:schemeClr val="accent5"/>
                </a:solidFill>
              </a:rPr>
              <a:t>근거: 우리WON 1 · KB 1·3·4 · 신한 3·4·5</a:t>
            </a:r>
            <a:endParaRPr lang="en-US" sz="1100" dirty="0"/>
          </a:p>
        </p:txBody>
      </p:sp>
      <p:sp>
        <p:nvSpPr>
          <p:cNvPr id="13" name="s2-card1"/>
          <p:cNvSpPr/>
          <p:nvPr/>
        </p:nvSpPr>
        <p:spPr>
          <a:xfrm>
            <a:off x="6233008" y="2697480"/>
            <a:ext cx="5410048" cy="1737360"/>
          </a:xfrm>
          <a:prstGeom prst="roundRect">
            <a:avLst>
              <a:gd name="adj" fmla="val 6316"/>
            </a:avLst>
          </a:prstGeom>
          <a:solidFill>
            <a:schemeClr val="bg2"/>
          </a:solidFill>
          <a:ln w="12700">
            <a:solidFill>
              <a:schemeClr val="bg2"/>
            </a:solidFill>
            <a:prstDash val="solid"/>
          </a:ln>
        </p:spPr>
      </p:sp>
      <p:sp>
        <p:nvSpPr>
          <p:cNvPr id="14" name="s2-b1"/>
          <p:cNvSpPr/>
          <p:nvPr/>
        </p:nvSpPr>
        <p:spPr>
          <a:xfrm>
            <a:off x="6507328" y="2926080"/>
            <a:ext cx="457200" cy="457200"/>
          </a:xfrm>
          <a:prstGeom prst="ellipse">
            <a:avLst/>
          </a:prstGeom>
          <a:solidFill>
            <a:schemeClr val="accent2"/>
          </a:solidFill>
          <a:ln w="12700">
            <a:solidFill>
              <a:schemeClr val="accent2"/>
            </a:solidFill>
            <a:prstDash val="solid"/>
          </a:ln>
        </p:spPr>
      </p:sp>
      <p:sp>
        <p:nvSpPr>
          <p:cNvPr id="15" name="s2-b1-t"/>
          <p:cNvSpPr txBox="1"/>
          <p:nvPr/>
        </p:nvSpPr>
        <p:spPr>
          <a:xfrm>
            <a:off x="6507328" y="29260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6" name="s2-h1"/>
          <p:cNvSpPr txBox="1"/>
          <p:nvPr/>
        </p:nvSpPr>
        <p:spPr>
          <a:xfrm>
            <a:off x="7101688" y="2880360"/>
            <a:ext cx="4312768" cy="548640"/>
          </a:xfrm>
          <a:prstGeom prst="rect">
            <a:avLst/>
          </a:prstGeom>
          <a:noFill/>
          <a:ln/>
        </p:spPr>
        <p:txBody>
          <a:bodyPr wrap="square" lIns="1270" tIns="1270" rIns="1270" bIns="1270" rtlCol="0" anchor="ctr"/>
          <a:lstStyle/>
          <a:p>
            <a:pPr indent="0" marL="0">
              <a:buNone/>
            </a:pPr>
            <a:r>
              <a:rPr lang="en-US" sz="1800" b="1" dirty="0">
                <a:solidFill>
                  <a:schemeClr val="tx2"/>
                </a:solidFill>
              </a:rPr>
              <a:t>안내가 막다른 길</a:t>
            </a:r>
            <a:endParaRPr lang="en-US" sz="1800" dirty="0"/>
          </a:p>
        </p:txBody>
      </p:sp>
      <p:sp>
        <p:nvSpPr>
          <p:cNvPr id="17" name="s2-p1"/>
          <p:cNvSpPr txBox="1"/>
          <p:nvPr/>
        </p:nvSpPr>
        <p:spPr>
          <a:xfrm>
            <a:off x="6507328" y="3447288"/>
            <a:ext cx="4861408" cy="585216"/>
          </a:xfrm>
          <a:prstGeom prst="rect">
            <a:avLst/>
          </a:prstGeom>
          <a:noFill/>
          <a:ln/>
        </p:spPr>
        <p:txBody>
          <a:bodyPr wrap="square" lIns="1270" tIns="1270" rIns="1270" bIns="1270" rtlCol="0" anchor="t"/>
          <a:lstStyle/>
          <a:p>
            <a:pPr indent="0" marL="0">
              <a:buNone/>
            </a:pPr>
            <a:r>
              <a:rPr lang="en-US" sz="1400" dirty="0">
                <a:solidFill>
                  <a:schemeClr val="tx1"/>
                </a:solidFill>
              </a:rPr>
              <a:t>상담은 앱으로 돌려보내고, 챗봇·ARS는 엉뚱하게 답한다</a:t>
            </a:r>
            <a:endParaRPr lang="en-US" sz="1400" dirty="0"/>
          </a:p>
        </p:txBody>
      </p:sp>
      <p:sp>
        <p:nvSpPr>
          <p:cNvPr id="18" name="s2-s1"/>
          <p:cNvSpPr txBox="1"/>
          <p:nvPr/>
        </p:nvSpPr>
        <p:spPr>
          <a:xfrm>
            <a:off x="6507328" y="3995928"/>
            <a:ext cx="4861408" cy="365760"/>
          </a:xfrm>
          <a:prstGeom prst="rect">
            <a:avLst/>
          </a:prstGeom>
          <a:noFill/>
          <a:ln/>
        </p:spPr>
        <p:txBody>
          <a:bodyPr wrap="square" lIns="1270" tIns="1270" rIns="1270" bIns="1270" rtlCol="0" anchor="t"/>
          <a:lstStyle/>
          <a:p>
            <a:pPr indent="0" marL="0">
              <a:buNone/>
            </a:pPr>
            <a:r>
              <a:rPr lang="en-US" sz="1100" dirty="0">
                <a:solidFill>
                  <a:schemeClr val="accent5"/>
                </a:solidFill>
              </a:rPr>
              <a:t>근거: 우리WON 2·4·5</a:t>
            </a:r>
            <a:endParaRPr lang="en-US" sz="1100" dirty="0"/>
          </a:p>
        </p:txBody>
      </p:sp>
      <p:sp>
        <p:nvSpPr>
          <p:cNvPr id="19" name="s2-card2"/>
          <p:cNvSpPr/>
          <p:nvPr/>
        </p:nvSpPr>
        <p:spPr>
          <a:xfrm>
            <a:off x="548640" y="4617720"/>
            <a:ext cx="5410048" cy="1737360"/>
          </a:xfrm>
          <a:prstGeom prst="roundRect">
            <a:avLst>
              <a:gd name="adj" fmla="val 6316"/>
            </a:avLst>
          </a:prstGeom>
          <a:solidFill>
            <a:schemeClr val="bg2"/>
          </a:solidFill>
          <a:ln w="12700">
            <a:solidFill>
              <a:schemeClr val="bg2"/>
            </a:solidFill>
            <a:prstDash val="solid"/>
          </a:ln>
        </p:spPr>
      </p:sp>
      <p:sp>
        <p:nvSpPr>
          <p:cNvPr id="20" name="s2-b2"/>
          <p:cNvSpPr/>
          <p:nvPr/>
        </p:nvSpPr>
        <p:spPr>
          <a:xfrm>
            <a:off x="822960" y="4846320"/>
            <a:ext cx="457200" cy="457200"/>
          </a:xfrm>
          <a:prstGeom prst="ellipse">
            <a:avLst/>
          </a:prstGeom>
          <a:solidFill>
            <a:schemeClr val="accent2"/>
          </a:solidFill>
          <a:ln w="12700">
            <a:solidFill>
              <a:schemeClr val="accent2"/>
            </a:solidFill>
            <a:prstDash val="solid"/>
          </a:ln>
        </p:spPr>
      </p:sp>
      <p:sp>
        <p:nvSpPr>
          <p:cNvPr id="21" name="s2-b2-t"/>
          <p:cNvSpPr txBox="1"/>
          <p:nvPr/>
        </p:nvSpPr>
        <p:spPr>
          <a:xfrm>
            <a:off x="822960" y="4846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2" name="s2-h2"/>
          <p:cNvSpPr txBox="1"/>
          <p:nvPr/>
        </p:nvSpPr>
        <p:spPr>
          <a:xfrm>
            <a:off x="1417320" y="4800600"/>
            <a:ext cx="4312768" cy="548640"/>
          </a:xfrm>
          <a:prstGeom prst="rect">
            <a:avLst/>
          </a:prstGeom>
          <a:noFill/>
          <a:ln/>
        </p:spPr>
        <p:txBody>
          <a:bodyPr wrap="square" lIns="1270" tIns="1270" rIns="1270" bIns="1270" rtlCol="0" anchor="ctr"/>
          <a:lstStyle/>
          <a:p>
            <a:pPr indent="0" marL="0">
              <a:buNone/>
            </a:pPr>
            <a:r>
              <a:rPr lang="en-US" sz="1800" b="1" dirty="0">
                <a:solidFill>
                  <a:schemeClr val="tx2"/>
                </a:solidFill>
              </a:rPr>
              <a:t>실패하면 처음부터 다시</a:t>
            </a:r>
            <a:endParaRPr lang="en-US" sz="1800" dirty="0"/>
          </a:p>
        </p:txBody>
      </p:sp>
      <p:sp>
        <p:nvSpPr>
          <p:cNvPr id="23" name="s2-p2"/>
          <p:cNvSpPr txBox="1"/>
          <p:nvPr/>
        </p:nvSpPr>
        <p:spPr>
          <a:xfrm>
            <a:off x="822960" y="5367528"/>
            <a:ext cx="4861408" cy="585216"/>
          </a:xfrm>
          <a:prstGeom prst="rect">
            <a:avLst/>
          </a:prstGeom>
          <a:noFill/>
          <a:ln/>
        </p:spPr>
        <p:txBody>
          <a:bodyPr wrap="square" lIns="1270" tIns="1270" rIns="1270" bIns="1270" rtlCol="0" anchor="t"/>
          <a:lstStyle/>
          <a:p>
            <a:pPr indent="0" marL="0">
              <a:buNone/>
            </a:pPr>
            <a:r>
              <a:rPr lang="en-US" sz="1400" dirty="0">
                <a:solidFill>
                  <a:schemeClr val="tx1"/>
                </a:solidFill>
              </a:rPr>
              <a:t>인증이 수없이 실패해도 이유를 알려 주지 않는다</a:t>
            </a:r>
            <a:endParaRPr lang="en-US" sz="1400" dirty="0"/>
          </a:p>
        </p:txBody>
      </p:sp>
      <p:sp>
        <p:nvSpPr>
          <p:cNvPr id="24" name="s2-s2"/>
          <p:cNvSpPr txBox="1"/>
          <p:nvPr/>
        </p:nvSpPr>
        <p:spPr>
          <a:xfrm>
            <a:off x="822960" y="5916168"/>
            <a:ext cx="4861408" cy="365760"/>
          </a:xfrm>
          <a:prstGeom prst="rect">
            <a:avLst/>
          </a:prstGeom>
          <a:noFill/>
          <a:ln/>
        </p:spPr>
        <p:txBody>
          <a:bodyPr wrap="square" lIns="1270" tIns="1270" rIns="1270" bIns="1270" rtlCol="0" anchor="t"/>
          <a:lstStyle/>
          <a:p>
            <a:pPr indent="0" marL="0">
              <a:buNone/>
            </a:pPr>
            <a:r>
              <a:rPr lang="en-US" sz="1100" dirty="0">
                <a:solidFill>
                  <a:schemeClr val="accent5"/>
                </a:solidFill>
              </a:rPr>
              <a:t>근거: 우리WON 3 · KB 2·5 · 신한 2</a:t>
            </a:r>
            <a:endParaRPr lang="en-US" sz="1100" dirty="0"/>
          </a:p>
        </p:txBody>
      </p:sp>
      <p:sp>
        <p:nvSpPr>
          <p:cNvPr id="25" name="s2-card3"/>
          <p:cNvSpPr/>
          <p:nvPr/>
        </p:nvSpPr>
        <p:spPr>
          <a:xfrm>
            <a:off x="6233008" y="4617720"/>
            <a:ext cx="5410048" cy="1737360"/>
          </a:xfrm>
          <a:prstGeom prst="roundRect">
            <a:avLst>
              <a:gd name="adj" fmla="val 6316"/>
            </a:avLst>
          </a:prstGeom>
          <a:solidFill>
            <a:schemeClr val="bg2"/>
          </a:solidFill>
          <a:ln w="12700">
            <a:solidFill>
              <a:schemeClr val="bg2"/>
            </a:solidFill>
            <a:prstDash val="solid"/>
          </a:ln>
        </p:spPr>
      </p:sp>
      <p:sp>
        <p:nvSpPr>
          <p:cNvPr id="26" name="s2-b3"/>
          <p:cNvSpPr/>
          <p:nvPr/>
        </p:nvSpPr>
        <p:spPr>
          <a:xfrm>
            <a:off x="6507328" y="4846320"/>
            <a:ext cx="457200" cy="457200"/>
          </a:xfrm>
          <a:prstGeom prst="ellipse">
            <a:avLst/>
          </a:prstGeom>
          <a:solidFill>
            <a:schemeClr val="accent2"/>
          </a:solidFill>
          <a:ln w="12700">
            <a:solidFill>
              <a:schemeClr val="accent2"/>
            </a:solidFill>
            <a:prstDash val="solid"/>
          </a:ln>
        </p:spPr>
      </p:sp>
      <p:sp>
        <p:nvSpPr>
          <p:cNvPr id="27" name="s2-b3-t"/>
          <p:cNvSpPr txBox="1"/>
          <p:nvPr/>
        </p:nvSpPr>
        <p:spPr>
          <a:xfrm>
            <a:off x="6507328" y="4846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s2-h3"/>
          <p:cNvSpPr txBox="1"/>
          <p:nvPr/>
        </p:nvSpPr>
        <p:spPr>
          <a:xfrm>
            <a:off x="7101688" y="4800600"/>
            <a:ext cx="4312768" cy="548640"/>
          </a:xfrm>
          <a:prstGeom prst="rect">
            <a:avLst/>
          </a:prstGeom>
          <a:noFill/>
          <a:ln/>
        </p:spPr>
        <p:txBody>
          <a:bodyPr wrap="square" lIns="1270" tIns="1270" rIns="1270" bIns="1270" rtlCol="0" anchor="ctr"/>
          <a:lstStyle/>
          <a:p>
            <a:pPr indent="0" marL="0">
              <a:buNone/>
            </a:pPr>
            <a:r>
              <a:rPr lang="en-US" sz="1800" b="1" dirty="0">
                <a:solidFill>
                  <a:schemeClr val="tx2"/>
                </a:solidFill>
              </a:rPr>
              <a:t>이유를 모르는 규칙</a:t>
            </a:r>
            <a:endParaRPr lang="en-US" sz="1800" dirty="0"/>
          </a:p>
        </p:txBody>
      </p:sp>
      <p:sp>
        <p:nvSpPr>
          <p:cNvPr id="29" name="s2-p3"/>
          <p:cNvSpPr txBox="1"/>
          <p:nvPr/>
        </p:nvSpPr>
        <p:spPr>
          <a:xfrm>
            <a:off x="6507328" y="5367528"/>
            <a:ext cx="4861408" cy="585216"/>
          </a:xfrm>
          <a:prstGeom prst="rect">
            <a:avLst/>
          </a:prstGeom>
          <a:noFill/>
          <a:ln/>
        </p:spPr>
        <p:txBody>
          <a:bodyPr wrap="square" lIns="1270" tIns="1270" rIns="1270" bIns="1270" rtlCol="0" anchor="t"/>
          <a:lstStyle/>
          <a:p>
            <a:pPr indent="0" marL="0">
              <a:buNone/>
            </a:pPr>
            <a:r>
              <a:rPr lang="en-US" sz="1400" dirty="0">
                <a:solidFill>
                  <a:schemeClr val="tx1"/>
                </a:solidFill>
              </a:rPr>
              <a:t>예약이체·선결제가 막혀도 왜 안 되는지 설명이 없다</a:t>
            </a:r>
            <a:endParaRPr lang="en-US" sz="1400" dirty="0"/>
          </a:p>
        </p:txBody>
      </p:sp>
      <p:sp>
        <p:nvSpPr>
          <p:cNvPr id="30" name="s2-s3"/>
          <p:cNvSpPr txBox="1"/>
          <p:nvPr/>
        </p:nvSpPr>
        <p:spPr>
          <a:xfrm>
            <a:off x="6507328" y="5916168"/>
            <a:ext cx="4861408" cy="365760"/>
          </a:xfrm>
          <a:prstGeom prst="rect">
            <a:avLst/>
          </a:prstGeom>
          <a:noFill/>
          <a:ln/>
        </p:spPr>
        <p:txBody>
          <a:bodyPr wrap="square" lIns="1270" tIns="1270" rIns="1270" bIns="1270" rtlCol="0" anchor="t"/>
          <a:lstStyle/>
          <a:p>
            <a:pPr indent="0" marL="0">
              <a:buNone/>
            </a:pPr>
            <a:r>
              <a:rPr lang="en-US" sz="1100" dirty="0">
                <a:solidFill>
                  <a:schemeClr val="accent5"/>
                </a:solidFill>
              </a:rPr>
              <a:t>근거: 우리WON 5 · 우리카드 1·3</a:t>
            </a:r>
            <a:endParaRPr lang="en-US" sz="1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chemeClr val="bg1"/>
                </a:solidFill>
              </a:rPr>
              <a:t>네 불편의 공통 뿌리</a:t>
            </a:r>
            <a:endParaRPr lang="en-US" sz="3200" dirty="0"/>
          </a:p>
        </p:txBody>
      </p:sp>
      <p:sp>
        <p:nvSpPr>
          <p:cNvPr id="3" name="s3-quote"/>
          <p:cNvSpPr txBox="1"/>
          <p:nvPr/>
        </p:nvSpPr>
        <p:spPr>
          <a:xfrm>
            <a:off x="548640" y="1280160"/>
            <a:ext cx="11094415" cy="1097280"/>
          </a:xfrm>
          <a:prstGeom prst="rect">
            <a:avLst/>
          </a:prstGeom>
          <a:noFill/>
          <a:ln/>
        </p:spPr>
        <p:txBody>
          <a:bodyPr wrap="square" lIns="1270" tIns="1270" rIns="1270" bIns="1270" rtlCol="0" anchor="t"/>
          <a:lstStyle/>
          <a:p>
            <a:pPr indent="0" marL="0">
              <a:buNone/>
            </a:pPr>
            <a:r>
              <a:rPr lang="en-US" sz="2800" b="1" dirty="0">
                <a:solidFill>
                  <a:schemeClr val="bg1"/>
                </a:solidFill>
              </a:rPr>
              <a:t>“막혔는데, 왜 막혔는지도, 어디로 가야 하는지도 아무도 안 알려준다.”</a:t>
            </a:r>
            <a:endParaRPr lang="en-US" sz="2800" dirty="0"/>
          </a:p>
        </p:txBody>
      </p:sp>
      <p:sp>
        <p:nvSpPr>
          <p:cNvPr id="4" name="s3-chip0"/>
          <p:cNvSpPr/>
          <p:nvPr/>
        </p:nvSpPr>
        <p:spPr>
          <a:xfrm>
            <a:off x="548640" y="2606040"/>
            <a:ext cx="3108960" cy="731520"/>
          </a:xfrm>
          <a:prstGeom prst="roundRect">
            <a:avLst>
              <a:gd name="adj" fmla="val 15000"/>
            </a:avLst>
          </a:prstGeom>
          <a:solidFill>
            <a:schemeClr val="accent1"/>
          </a:solidFill>
          <a:ln w="12700">
            <a:solidFill>
              <a:schemeClr val="accent1"/>
            </a:solidFill>
            <a:prstDash val="solid"/>
          </a:ln>
        </p:spPr>
      </p:sp>
      <p:sp>
        <p:nvSpPr>
          <p:cNvPr id="5" name="s3-chip-t0"/>
          <p:cNvSpPr txBox="1"/>
          <p:nvPr/>
        </p:nvSpPr>
        <p:spPr>
          <a:xfrm>
            <a:off x="548640" y="2606040"/>
            <a:ext cx="3108960" cy="731520"/>
          </a:xfrm>
          <a:prstGeom prst="rect">
            <a:avLst/>
          </a:prstGeom>
          <a:noFill/>
          <a:ln/>
        </p:spPr>
        <p:txBody>
          <a:bodyPr wrap="square" lIns="1270" tIns="1270" rIns="1270" bIns="1270" rtlCol="0" anchor="ctr"/>
          <a:lstStyle/>
          <a:p>
            <a:pPr algn="ctr" indent="0" marL="0">
              <a:buNone/>
            </a:pPr>
            <a:r>
              <a:rPr lang="en-US" sz="1800" b="1" dirty="0">
                <a:solidFill>
                  <a:schemeClr val="bg1"/>
                </a:solidFill>
              </a:rPr>
              <a:t>고객이 먼저 찾고</a:t>
            </a:r>
            <a:endParaRPr lang="en-US" sz="1800" dirty="0"/>
          </a:p>
        </p:txBody>
      </p:sp>
      <p:sp>
        <p:nvSpPr>
          <p:cNvPr id="6" name="s3-arr0"/>
          <p:cNvSpPr txBox="1"/>
          <p:nvPr/>
        </p:nvSpPr>
        <p:spPr>
          <a:xfrm>
            <a:off x="3657600" y="2606040"/>
            <a:ext cx="685800" cy="731520"/>
          </a:xfrm>
          <a:prstGeom prst="rect">
            <a:avLst/>
          </a:prstGeom>
          <a:noFill/>
          <a:ln/>
        </p:spPr>
        <p:txBody>
          <a:bodyPr wrap="square" lIns="0" tIns="0" rIns="0" bIns="0" rtlCol="0" anchor="ctr"/>
          <a:lstStyle/>
          <a:p>
            <a:pPr algn="ctr" indent="0" marL="0">
              <a:buNone/>
            </a:pPr>
            <a:r>
              <a:rPr lang="en-US" sz="2400" b="1" dirty="0">
                <a:solidFill>
                  <a:schemeClr val="bg2"/>
                </a:solidFill>
              </a:rPr>
              <a:t>→</a:t>
            </a:r>
            <a:endParaRPr lang="en-US" sz="2400" dirty="0"/>
          </a:p>
        </p:txBody>
      </p:sp>
      <p:sp>
        <p:nvSpPr>
          <p:cNvPr id="7" name="s3-chip1"/>
          <p:cNvSpPr/>
          <p:nvPr/>
        </p:nvSpPr>
        <p:spPr>
          <a:xfrm>
            <a:off x="4343400" y="2606040"/>
            <a:ext cx="3108960" cy="731520"/>
          </a:xfrm>
          <a:prstGeom prst="roundRect">
            <a:avLst>
              <a:gd name="adj" fmla="val 15000"/>
            </a:avLst>
          </a:prstGeom>
          <a:solidFill>
            <a:schemeClr val="accent1"/>
          </a:solidFill>
          <a:ln w="12700">
            <a:solidFill>
              <a:schemeClr val="accent1"/>
            </a:solidFill>
            <a:prstDash val="solid"/>
          </a:ln>
        </p:spPr>
      </p:sp>
      <p:sp>
        <p:nvSpPr>
          <p:cNvPr id="8" name="s3-chip-t1"/>
          <p:cNvSpPr txBox="1"/>
          <p:nvPr/>
        </p:nvSpPr>
        <p:spPr>
          <a:xfrm>
            <a:off x="4343400" y="2606040"/>
            <a:ext cx="3108960" cy="731520"/>
          </a:xfrm>
          <a:prstGeom prst="rect">
            <a:avLst/>
          </a:prstGeom>
          <a:noFill/>
          <a:ln/>
        </p:spPr>
        <p:txBody>
          <a:bodyPr wrap="square" lIns="1270" tIns="1270" rIns="1270" bIns="1270" rtlCol="0" anchor="ctr"/>
          <a:lstStyle/>
          <a:p>
            <a:pPr algn="ctr" indent="0" marL="0">
              <a:buNone/>
            </a:pPr>
            <a:r>
              <a:rPr lang="en-US" sz="1800" b="1" dirty="0">
                <a:solidFill>
                  <a:schemeClr val="bg1"/>
                </a:solidFill>
              </a:rPr>
              <a:t>고객이 먼저 묻고</a:t>
            </a:r>
            <a:endParaRPr lang="en-US" sz="1800" dirty="0"/>
          </a:p>
        </p:txBody>
      </p:sp>
      <p:sp>
        <p:nvSpPr>
          <p:cNvPr id="9" name="s3-arr1"/>
          <p:cNvSpPr txBox="1"/>
          <p:nvPr/>
        </p:nvSpPr>
        <p:spPr>
          <a:xfrm>
            <a:off x="7452360" y="2606040"/>
            <a:ext cx="685800" cy="731520"/>
          </a:xfrm>
          <a:prstGeom prst="rect">
            <a:avLst/>
          </a:prstGeom>
          <a:noFill/>
          <a:ln/>
        </p:spPr>
        <p:txBody>
          <a:bodyPr wrap="square" lIns="0" tIns="0" rIns="0" bIns="0" rtlCol="0" anchor="ctr"/>
          <a:lstStyle/>
          <a:p>
            <a:pPr algn="ctr" indent="0" marL="0">
              <a:buNone/>
            </a:pPr>
            <a:r>
              <a:rPr lang="en-US" sz="2400" b="1" dirty="0">
                <a:solidFill>
                  <a:schemeClr val="bg2"/>
                </a:solidFill>
              </a:rPr>
              <a:t>→</a:t>
            </a:r>
            <a:endParaRPr lang="en-US" sz="2400" dirty="0"/>
          </a:p>
        </p:txBody>
      </p:sp>
      <p:sp>
        <p:nvSpPr>
          <p:cNvPr id="10" name="s3-chip2"/>
          <p:cNvSpPr/>
          <p:nvPr/>
        </p:nvSpPr>
        <p:spPr>
          <a:xfrm>
            <a:off x="8138160" y="2606040"/>
            <a:ext cx="3108960" cy="731520"/>
          </a:xfrm>
          <a:prstGeom prst="roundRect">
            <a:avLst>
              <a:gd name="adj" fmla="val 15000"/>
            </a:avLst>
          </a:prstGeom>
          <a:solidFill>
            <a:schemeClr val="accent1"/>
          </a:solidFill>
          <a:ln w="12700">
            <a:solidFill>
              <a:schemeClr val="accent1"/>
            </a:solidFill>
            <a:prstDash val="solid"/>
          </a:ln>
        </p:spPr>
      </p:sp>
      <p:sp>
        <p:nvSpPr>
          <p:cNvPr id="11" name="s3-chip-t2"/>
          <p:cNvSpPr txBox="1"/>
          <p:nvPr/>
        </p:nvSpPr>
        <p:spPr>
          <a:xfrm>
            <a:off x="8138160" y="2606040"/>
            <a:ext cx="3108960" cy="731520"/>
          </a:xfrm>
          <a:prstGeom prst="rect">
            <a:avLst/>
          </a:prstGeom>
          <a:noFill/>
          <a:ln/>
        </p:spPr>
        <p:txBody>
          <a:bodyPr wrap="square" lIns="1270" tIns="1270" rIns="1270" bIns="1270" rtlCol="0" anchor="ctr"/>
          <a:lstStyle/>
          <a:p>
            <a:pPr algn="ctr" indent="0" marL="0">
              <a:buNone/>
            </a:pPr>
            <a:r>
              <a:rPr lang="en-US" sz="1800" b="1" dirty="0">
                <a:solidFill>
                  <a:schemeClr val="bg1"/>
                </a:solidFill>
              </a:rPr>
              <a:t>고객이 먼저 설명한다</a:t>
            </a:r>
            <a:endParaRPr lang="en-US" sz="1800" dirty="0"/>
          </a:p>
        </p:txBody>
      </p:sp>
      <p:sp>
        <p:nvSpPr>
          <p:cNvPr id="12" name="s3-result"/>
          <p:cNvSpPr txBox="1"/>
          <p:nvPr/>
        </p:nvSpPr>
        <p:spPr>
          <a:xfrm>
            <a:off x="548640" y="3566160"/>
            <a:ext cx="11094415" cy="594360"/>
          </a:xfrm>
          <a:prstGeom prst="rect">
            <a:avLst/>
          </a:prstGeom>
          <a:noFill/>
          <a:ln/>
        </p:spPr>
        <p:txBody>
          <a:bodyPr wrap="square" lIns="1270" tIns="1270" rIns="1270" bIns="1270" rtlCol="0" anchor="t"/>
          <a:lstStyle/>
          <a:p>
            <a:pPr indent="0" marL="0">
              <a:buNone/>
            </a:pPr>
            <a:r>
              <a:rPr lang="en-US" sz="2400" b="1" dirty="0">
                <a:solidFill>
                  <a:schemeClr val="accent4"/>
                </a:solidFill>
              </a:rPr>
              <a:t>핵심 문제: </a:t>
            </a:r>
            <a:pPr indent="0" marL="0">
              <a:buNone/>
            </a:pPr>
            <a:r>
              <a:rPr lang="en-US" sz="2400" b="1" dirty="0">
                <a:solidFill>
                  <a:schemeClr val="bg1"/>
                </a:solidFill>
              </a:rPr>
              <a:t>수동적인 구조라서, 앱에 익숙한 사람만 해결한다</a:t>
            </a:r>
            <a:endParaRPr lang="en-US" sz="2400" dirty="0"/>
          </a:p>
        </p:txBody>
      </p:sp>
      <p:sp>
        <p:nvSpPr>
          <p:cNvPr id="13" name="s3-note"/>
          <p:cNvSpPr txBox="1"/>
          <p:nvPr/>
        </p:nvSpPr>
        <p:spPr>
          <a:xfrm>
            <a:off x="548640" y="4160520"/>
            <a:ext cx="11094415" cy="457200"/>
          </a:xfrm>
          <a:prstGeom prst="rect">
            <a:avLst/>
          </a:prstGeom>
          <a:noFill/>
          <a:ln/>
        </p:spPr>
        <p:txBody>
          <a:bodyPr wrap="square" lIns="1270" tIns="1270" rIns="1270" bIns="1270" rtlCol="0" anchor="t"/>
          <a:lstStyle/>
          <a:p>
            <a:pPr indent="0" marL="0">
              <a:buNone/>
            </a:pPr>
            <a:r>
              <a:rPr lang="en-US" sz="1200" dirty="0">
                <a:solidFill>
                  <a:schemeClr val="bg2"/>
                </a:solidFill>
              </a:rPr>
              <a:t>※ 숙련도에 따른 해결 편차는 가설. 불을 끄고 다시 해서야 얼굴 인증에 성공했다는 리뷰처럼, 요령을 아는 사람만 해결한 사례에서 도출</a:t>
            </a:r>
            <a:endParaRPr lang="en-US" sz="1200" dirty="0"/>
          </a:p>
        </p:txBody>
      </p:sp>
      <p:sp>
        <p:nvSpPr>
          <p:cNvPr id="14" name="s3-target"/>
          <p:cNvSpPr/>
          <p:nvPr/>
        </p:nvSpPr>
        <p:spPr>
          <a:xfrm>
            <a:off x="548640" y="4800600"/>
            <a:ext cx="11094415" cy="1371600"/>
          </a:xfrm>
          <a:prstGeom prst="roundRect">
            <a:avLst>
              <a:gd name="adj" fmla="val 8000"/>
            </a:avLst>
          </a:prstGeom>
          <a:solidFill>
            <a:schemeClr val="bg1">
              <a:alpha val="12000"/>
            </a:schemeClr>
          </a:solidFill>
          <a:ln w="12700">
            <a:solidFill>
              <a:schemeClr val="bg1"/>
            </a:solidFill>
            <a:prstDash val="solid"/>
          </a:ln>
        </p:spPr>
      </p:sp>
      <p:sp>
        <p:nvSpPr>
          <p:cNvPr id="15" name="s3-target-k"/>
          <p:cNvSpPr txBox="1"/>
          <p:nvPr/>
        </p:nvSpPr>
        <p:spPr>
          <a:xfrm>
            <a:off x="822960" y="4937760"/>
            <a:ext cx="1097280" cy="411480"/>
          </a:xfrm>
          <a:prstGeom prst="rect">
            <a:avLst/>
          </a:prstGeom>
          <a:noFill/>
          <a:ln/>
        </p:spPr>
        <p:txBody>
          <a:bodyPr wrap="square" lIns="1270" tIns="1270" rIns="1270" bIns="1270" rtlCol="0" anchor="t"/>
          <a:lstStyle/>
          <a:p>
            <a:pPr indent="0" marL="0">
              <a:buNone/>
            </a:pPr>
            <a:r>
              <a:rPr lang="en-US" sz="1600" b="1" dirty="0">
                <a:solidFill>
                  <a:schemeClr val="accent4"/>
                </a:solidFill>
              </a:rPr>
              <a:t>대상</a:t>
            </a:r>
            <a:endParaRPr lang="en-US" sz="1600" dirty="0"/>
          </a:p>
        </p:txBody>
      </p:sp>
      <p:sp>
        <p:nvSpPr>
          <p:cNvPr id="16" name="s3-target-t"/>
          <p:cNvSpPr txBox="1"/>
          <p:nvPr/>
        </p:nvSpPr>
        <p:spPr>
          <a:xfrm>
            <a:off x="1828800" y="4937760"/>
            <a:ext cx="9539935" cy="457200"/>
          </a:xfrm>
          <a:prstGeom prst="rect">
            <a:avLst/>
          </a:prstGeom>
          <a:noFill/>
          <a:ln/>
        </p:spPr>
        <p:txBody>
          <a:bodyPr wrap="square" lIns="1270" tIns="1270" rIns="1270" bIns="1270" rtlCol="0" anchor="t"/>
          <a:lstStyle/>
          <a:p>
            <a:pPr indent="0" marL="0">
              <a:buNone/>
            </a:pPr>
            <a:r>
              <a:rPr lang="en-US" sz="1800" b="1" dirty="0">
                <a:solidFill>
                  <a:schemeClr val="bg1"/>
                </a:solidFill>
              </a:rPr>
              <a:t>우리WON뱅킹 업무를 직접 하려는데, 해결 경로를 스스로 찾기 어려운 고객</a:t>
            </a:r>
            <a:endParaRPr lang="en-US" sz="1800" dirty="0"/>
          </a:p>
        </p:txBody>
      </p:sp>
      <p:sp>
        <p:nvSpPr>
          <p:cNvPr id="17" name="s3-target-s"/>
          <p:cNvSpPr txBox="1"/>
          <p:nvPr/>
        </p:nvSpPr>
        <p:spPr>
          <a:xfrm>
            <a:off x="1828800" y="5440680"/>
            <a:ext cx="9539935" cy="548640"/>
          </a:xfrm>
          <a:prstGeom prst="rect">
            <a:avLst/>
          </a:prstGeom>
          <a:noFill/>
          <a:ln/>
        </p:spPr>
        <p:txBody>
          <a:bodyPr wrap="square" lIns="1270" tIns="1270" rIns="1270" bIns="1270" rtlCol="0" anchor="t"/>
          <a:lstStyle/>
          <a:p>
            <a:pPr indent="0" marL="0">
              <a:buNone/>
            </a:pPr>
            <a:r>
              <a:rPr lang="en-US" sz="1400" dirty="0">
                <a:solidFill>
                  <a:schemeClr val="bg2"/>
                </a:solidFill>
              </a:rPr>
              <a:t>처음 검증: 업데이트 후 계좌 기능을 못 찾는 고객 · 인증 실패를 반복하는 고객</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chemeClr val="tx2"/>
                </a:solidFill>
              </a:rPr>
              <a:t>해결: 고객보다 먼저 움직이는 원테이크</a:t>
            </a:r>
            <a:endParaRPr lang="en-US" sz="3200" dirty="0"/>
          </a:p>
        </p:txBody>
      </p:sp>
      <p:sp>
        <p:nvSpPr>
          <p:cNvPr id="3" name="s4-line"/>
          <p:cNvSpPr/>
          <p:nvPr/>
        </p:nvSpPr>
        <p:spPr>
          <a:xfrm>
            <a:off x="1935442" y="2171700"/>
            <a:ext cx="8320811" cy="0"/>
          </a:xfrm>
          <a:prstGeom prst="line">
            <a:avLst/>
          </a:prstGeom>
          <a:noFill/>
          <a:ln w="38100">
            <a:solidFill>
              <a:srgbClr val="1E6FD9"/>
            </a:solidFill>
            <a:prstDash val="solid"/>
          </a:ln>
        </p:spPr>
      </p:sp>
      <p:sp>
        <p:nvSpPr>
          <p:cNvPr id="4" name="s4-when0"/>
          <p:cNvSpPr txBox="1"/>
          <p:nvPr/>
        </p:nvSpPr>
        <p:spPr>
          <a:xfrm>
            <a:off x="548640" y="1325880"/>
            <a:ext cx="2773604" cy="411480"/>
          </a:xfrm>
          <a:prstGeom prst="rect">
            <a:avLst/>
          </a:prstGeom>
          <a:noFill/>
          <a:ln/>
        </p:spPr>
        <p:txBody>
          <a:bodyPr wrap="square" lIns="1270" tIns="1270" rIns="1270" bIns="1270" rtlCol="0" anchor="t"/>
          <a:lstStyle/>
          <a:p>
            <a:pPr algn="ctr" indent="0" marL="0">
              <a:buNone/>
            </a:pPr>
            <a:r>
              <a:rPr lang="en-US" sz="1400" b="1" dirty="0">
                <a:solidFill>
                  <a:schemeClr val="accent5"/>
                </a:solidFill>
              </a:rPr>
              <a:t>막히기 전</a:t>
            </a:r>
            <a:endParaRPr lang="en-US" sz="1400" dirty="0"/>
          </a:p>
        </p:txBody>
      </p:sp>
      <p:sp>
        <p:nvSpPr>
          <p:cNvPr id="5" name="s4-b0"/>
          <p:cNvSpPr/>
          <p:nvPr/>
        </p:nvSpPr>
        <p:spPr>
          <a:xfrm>
            <a:off x="1546822" y="1783080"/>
            <a:ext cx="777240" cy="777240"/>
          </a:xfrm>
          <a:prstGeom prst="ellipse">
            <a:avLst/>
          </a:prstGeom>
          <a:solidFill>
            <a:schemeClr val="accent1"/>
          </a:solidFill>
          <a:ln w="12700">
            <a:solidFill>
              <a:schemeClr val="accent1"/>
            </a:solidFill>
            <a:prstDash val="solid"/>
          </a:ln>
        </p:spPr>
      </p:sp>
      <p:sp>
        <p:nvSpPr>
          <p:cNvPr id="6" name="s4-b0-t"/>
          <p:cNvSpPr txBox="1"/>
          <p:nvPr/>
        </p:nvSpPr>
        <p:spPr>
          <a:xfrm>
            <a:off x="1546822" y="1783080"/>
            <a:ext cx="777240" cy="777240"/>
          </a:xfrm>
          <a:prstGeom prst="rect">
            <a:avLst/>
          </a:prstGeom>
          <a:noFill/>
          <a:ln/>
        </p:spPr>
        <p:txBody>
          <a:bodyPr wrap="square" lIns="0" tIns="0" rIns="0" bIns="0" rtlCol="0" anchor="ctr"/>
          <a:lstStyle/>
          <a:p>
            <a:pPr algn="ctr" indent="0" marL="0">
              <a:buNone/>
            </a:pPr>
            <a:r>
              <a:rPr lang="en-US" sz="1800" b="1" dirty="0">
                <a:solidFill>
                  <a:schemeClr val="bg1"/>
                </a:solidFill>
              </a:rPr>
              <a:t>R1</a:t>
            </a:r>
            <a:endParaRPr lang="en-US" sz="1800" dirty="0"/>
          </a:p>
        </p:txBody>
      </p:sp>
      <p:sp>
        <p:nvSpPr>
          <p:cNvPr id="7" name="s4-verb0"/>
          <p:cNvSpPr txBox="1"/>
          <p:nvPr/>
        </p:nvSpPr>
        <p:spPr>
          <a:xfrm>
            <a:off x="640080" y="2697480"/>
            <a:ext cx="2590724" cy="502920"/>
          </a:xfrm>
          <a:prstGeom prst="rect">
            <a:avLst/>
          </a:prstGeom>
          <a:noFill/>
          <a:ln/>
        </p:spPr>
        <p:txBody>
          <a:bodyPr wrap="square" lIns="1270" tIns="1270" rIns="1270" bIns="1270" rtlCol="0" anchor="t"/>
          <a:lstStyle/>
          <a:p>
            <a:pPr algn="ctr" indent="0" marL="0">
              <a:buNone/>
            </a:pPr>
            <a:r>
              <a:rPr lang="en-US" sz="2200" b="1" dirty="0">
                <a:solidFill>
                  <a:schemeClr val="tx2"/>
                </a:solidFill>
              </a:rPr>
              <a:t>먼저 알린다</a:t>
            </a:r>
            <a:endParaRPr lang="en-US" sz="2200" dirty="0"/>
          </a:p>
        </p:txBody>
      </p:sp>
      <p:sp>
        <p:nvSpPr>
          <p:cNvPr id="8" name="s4-desc0"/>
          <p:cNvSpPr txBox="1"/>
          <p:nvPr/>
        </p:nvSpPr>
        <p:spPr>
          <a:xfrm>
            <a:off x="731520" y="3246120"/>
            <a:ext cx="2407844" cy="1234440"/>
          </a:xfrm>
          <a:prstGeom prst="rect">
            <a:avLst/>
          </a:prstGeom>
          <a:noFill/>
          <a:ln/>
        </p:spPr>
        <p:txBody>
          <a:bodyPr wrap="square" lIns="1270" tIns="1270" rIns="1270" bIns="1270" rtlCol="0" anchor="t"/>
          <a:lstStyle/>
          <a:p>
            <a:pPr indent="0" marL="0">
              <a:buNone/>
            </a:pPr>
            <a:r>
              <a:rPr lang="en-US" sz="1400" dirty="0">
                <a:solidFill>
                  <a:schemeClr val="tx1"/>
                </a:solidFill>
              </a:rPr>
              <a:t>업데이트 후 첫 실행 때, 가장 많이 쓴 메뉴가 바뀌었으면 새 위치를 알린다</a:t>
            </a:r>
            <a:endParaRPr lang="en-US" sz="1400" dirty="0"/>
          </a:p>
        </p:txBody>
      </p:sp>
      <p:sp>
        <p:nvSpPr>
          <p:cNvPr id="9" name="s4-rule0"/>
          <p:cNvSpPr/>
          <p:nvPr/>
        </p:nvSpPr>
        <p:spPr>
          <a:xfrm>
            <a:off x="731520" y="4572000"/>
            <a:ext cx="2407844" cy="1097280"/>
          </a:xfrm>
          <a:prstGeom prst="roundRect">
            <a:avLst>
              <a:gd name="adj" fmla="val 10000"/>
            </a:avLst>
          </a:prstGeom>
          <a:solidFill>
            <a:schemeClr val="bg2"/>
          </a:solidFill>
          <a:ln w="12700">
            <a:solidFill>
              <a:schemeClr val="bg2"/>
            </a:solidFill>
            <a:prstDash val="solid"/>
          </a:ln>
        </p:spPr>
      </p:sp>
      <p:sp>
        <p:nvSpPr>
          <p:cNvPr id="10" name="s4-rule-t0"/>
          <p:cNvSpPr txBox="1"/>
          <p:nvPr/>
        </p:nvSpPr>
        <p:spPr>
          <a:xfrm>
            <a:off x="777240" y="4572000"/>
            <a:ext cx="2316404" cy="1097280"/>
          </a:xfrm>
          <a:prstGeom prst="rect">
            <a:avLst/>
          </a:prstGeom>
          <a:noFill/>
          <a:ln/>
        </p:spPr>
        <p:txBody>
          <a:bodyPr wrap="square" lIns="1270" tIns="1270" rIns="1270" bIns="1270" rtlCol="0" anchor="ctr"/>
          <a:lstStyle/>
          <a:p>
            <a:pPr indent="0" marL="0">
              <a:buNone/>
            </a:pPr>
            <a:r>
              <a:rPr lang="en-US" sz="1200" b="1" dirty="0">
                <a:solidFill>
                  <a:schemeClr val="accent1"/>
                </a:solidFill>
              </a:rPr>
              <a:t>기준  </a:t>
            </a:r>
            <a:pPr indent="0" marL="0">
              <a:buNone/>
            </a:pPr>
            <a:r>
              <a:rPr lang="en-US" sz="1200" dirty="0">
                <a:solidFill>
                  <a:schemeClr val="tx1"/>
                </a:solidFill>
              </a:rPr>
              <a:t>가장 많이 쓴 메뉴 1개가 바뀐 경우만, 업데이트당 1번</a:t>
            </a:r>
            <a:endParaRPr lang="en-US" sz="1200" dirty="0"/>
          </a:p>
        </p:txBody>
      </p:sp>
      <p:sp>
        <p:nvSpPr>
          <p:cNvPr id="11" name="s4-when1"/>
          <p:cNvSpPr txBox="1"/>
          <p:nvPr/>
        </p:nvSpPr>
        <p:spPr>
          <a:xfrm>
            <a:off x="3322244" y="1325880"/>
            <a:ext cx="2773604" cy="411480"/>
          </a:xfrm>
          <a:prstGeom prst="rect">
            <a:avLst/>
          </a:prstGeom>
          <a:noFill/>
          <a:ln/>
        </p:spPr>
        <p:txBody>
          <a:bodyPr wrap="square" lIns="1270" tIns="1270" rIns="1270" bIns="1270" rtlCol="0" anchor="t"/>
          <a:lstStyle/>
          <a:p>
            <a:pPr algn="ctr" indent="0" marL="0">
              <a:buNone/>
            </a:pPr>
            <a:r>
              <a:rPr lang="en-US" sz="1400" b="1" dirty="0">
                <a:solidFill>
                  <a:schemeClr val="accent5"/>
                </a:solidFill>
              </a:rPr>
              <a:t>막힌 순간</a:t>
            </a:r>
            <a:endParaRPr lang="en-US" sz="1400" dirty="0"/>
          </a:p>
        </p:txBody>
      </p:sp>
      <p:sp>
        <p:nvSpPr>
          <p:cNvPr id="12" name="s4-b1"/>
          <p:cNvSpPr/>
          <p:nvPr/>
        </p:nvSpPr>
        <p:spPr>
          <a:xfrm>
            <a:off x="4320426" y="1783080"/>
            <a:ext cx="777240" cy="777240"/>
          </a:xfrm>
          <a:prstGeom prst="ellipse">
            <a:avLst/>
          </a:prstGeom>
          <a:solidFill>
            <a:schemeClr val="accent1"/>
          </a:solidFill>
          <a:ln w="12700">
            <a:solidFill>
              <a:schemeClr val="accent1"/>
            </a:solidFill>
            <a:prstDash val="solid"/>
          </a:ln>
        </p:spPr>
      </p:sp>
      <p:sp>
        <p:nvSpPr>
          <p:cNvPr id="13" name="s4-b1-t"/>
          <p:cNvSpPr txBox="1"/>
          <p:nvPr/>
        </p:nvSpPr>
        <p:spPr>
          <a:xfrm>
            <a:off x="4320426" y="1783080"/>
            <a:ext cx="777240" cy="777240"/>
          </a:xfrm>
          <a:prstGeom prst="rect">
            <a:avLst/>
          </a:prstGeom>
          <a:noFill/>
          <a:ln/>
        </p:spPr>
        <p:txBody>
          <a:bodyPr wrap="square" lIns="0" tIns="0" rIns="0" bIns="0" rtlCol="0" anchor="ctr"/>
          <a:lstStyle/>
          <a:p>
            <a:pPr algn="ctr" indent="0" marL="0">
              <a:buNone/>
            </a:pPr>
            <a:r>
              <a:rPr lang="en-US" sz="1800" b="1" dirty="0">
                <a:solidFill>
                  <a:schemeClr val="bg1"/>
                </a:solidFill>
              </a:rPr>
              <a:t>R2</a:t>
            </a:r>
            <a:endParaRPr lang="en-US" sz="1800" dirty="0"/>
          </a:p>
        </p:txBody>
      </p:sp>
      <p:sp>
        <p:nvSpPr>
          <p:cNvPr id="14" name="s4-verb1"/>
          <p:cNvSpPr txBox="1"/>
          <p:nvPr/>
        </p:nvSpPr>
        <p:spPr>
          <a:xfrm>
            <a:off x="3413684" y="2697480"/>
            <a:ext cx="2590724" cy="502920"/>
          </a:xfrm>
          <a:prstGeom prst="rect">
            <a:avLst/>
          </a:prstGeom>
          <a:noFill/>
          <a:ln/>
        </p:spPr>
        <p:txBody>
          <a:bodyPr wrap="square" lIns="1270" tIns="1270" rIns="1270" bIns="1270" rtlCol="0" anchor="t"/>
          <a:lstStyle/>
          <a:p>
            <a:pPr algn="ctr" indent="0" marL="0">
              <a:buNone/>
            </a:pPr>
            <a:r>
              <a:rPr lang="en-US" sz="2200" b="1" dirty="0">
                <a:solidFill>
                  <a:schemeClr val="tx2"/>
                </a:solidFill>
              </a:rPr>
              <a:t>먼저 묻는다</a:t>
            </a:r>
            <a:endParaRPr lang="en-US" sz="2200" dirty="0"/>
          </a:p>
        </p:txBody>
      </p:sp>
      <p:sp>
        <p:nvSpPr>
          <p:cNvPr id="15" name="s4-desc1"/>
          <p:cNvSpPr txBox="1"/>
          <p:nvPr/>
        </p:nvSpPr>
        <p:spPr>
          <a:xfrm>
            <a:off x="3505124" y="3246120"/>
            <a:ext cx="2407844" cy="1234440"/>
          </a:xfrm>
          <a:prstGeom prst="rect">
            <a:avLst/>
          </a:prstGeom>
          <a:noFill/>
          <a:ln/>
        </p:spPr>
        <p:txBody>
          <a:bodyPr wrap="square" lIns="1270" tIns="1270" rIns="1270" bIns="1270" rtlCol="0" anchor="t"/>
          <a:lstStyle/>
          <a:p>
            <a:pPr indent="0" marL="0">
              <a:buNone/>
            </a:pPr>
            <a:r>
              <a:rPr lang="en-US" sz="1400" dirty="0">
                <a:solidFill>
                  <a:schemeClr val="tx1"/>
                </a:solidFill>
              </a:rPr>
              <a:t>같은 화면을 반복해 오가면 AI 대화 팝업이 먼저 말을 건다</a:t>
            </a:r>
            <a:endParaRPr lang="en-US" sz="1400" dirty="0"/>
          </a:p>
        </p:txBody>
      </p:sp>
      <p:sp>
        <p:nvSpPr>
          <p:cNvPr id="16" name="s4-rule1"/>
          <p:cNvSpPr/>
          <p:nvPr/>
        </p:nvSpPr>
        <p:spPr>
          <a:xfrm>
            <a:off x="3505124" y="4572000"/>
            <a:ext cx="2407844" cy="1097280"/>
          </a:xfrm>
          <a:prstGeom prst="roundRect">
            <a:avLst>
              <a:gd name="adj" fmla="val 10000"/>
            </a:avLst>
          </a:prstGeom>
          <a:solidFill>
            <a:schemeClr val="bg2"/>
          </a:solidFill>
          <a:ln w="12700">
            <a:solidFill>
              <a:schemeClr val="bg2"/>
            </a:solidFill>
            <a:prstDash val="solid"/>
          </a:ln>
        </p:spPr>
      </p:sp>
      <p:sp>
        <p:nvSpPr>
          <p:cNvPr id="17" name="s4-rule-t1"/>
          <p:cNvSpPr txBox="1"/>
          <p:nvPr/>
        </p:nvSpPr>
        <p:spPr>
          <a:xfrm>
            <a:off x="3550844" y="4572000"/>
            <a:ext cx="2316404" cy="1097280"/>
          </a:xfrm>
          <a:prstGeom prst="rect">
            <a:avLst/>
          </a:prstGeom>
          <a:noFill/>
          <a:ln/>
        </p:spPr>
        <p:txBody>
          <a:bodyPr wrap="square" lIns="1270" tIns="1270" rIns="1270" bIns="1270" rtlCol="0" anchor="ctr"/>
          <a:lstStyle/>
          <a:p>
            <a:pPr indent="0" marL="0">
              <a:buNone/>
            </a:pPr>
            <a:r>
              <a:rPr lang="en-US" sz="1200" b="1" dirty="0">
                <a:solidFill>
                  <a:schemeClr val="accent1"/>
                </a:solidFill>
              </a:rPr>
              <a:t>기준  </a:t>
            </a:r>
            <a:pPr indent="0" marL="0">
              <a:buNone/>
            </a:pPr>
            <a:r>
              <a:rPr lang="en-US" sz="1200" dirty="0">
                <a:solidFill>
                  <a:schemeClr val="tx1"/>
                </a:solidFill>
              </a:rPr>
              <a:t>60초 이내 3번 진입 시(61초면 없음), [다시 띄우지 않기]로 영구 중지</a:t>
            </a:r>
            <a:endParaRPr lang="en-US" sz="1200" dirty="0"/>
          </a:p>
        </p:txBody>
      </p:sp>
      <p:sp>
        <p:nvSpPr>
          <p:cNvPr id="18" name="s4-when2"/>
          <p:cNvSpPr txBox="1"/>
          <p:nvPr/>
        </p:nvSpPr>
        <p:spPr>
          <a:xfrm>
            <a:off x="6095848" y="1325880"/>
            <a:ext cx="2773604" cy="411480"/>
          </a:xfrm>
          <a:prstGeom prst="rect">
            <a:avLst/>
          </a:prstGeom>
          <a:noFill/>
          <a:ln/>
        </p:spPr>
        <p:txBody>
          <a:bodyPr wrap="square" lIns="1270" tIns="1270" rIns="1270" bIns="1270" rtlCol="0" anchor="t"/>
          <a:lstStyle/>
          <a:p>
            <a:pPr algn="ctr" indent="0" marL="0">
              <a:buNone/>
            </a:pPr>
            <a:r>
              <a:rPr lang="en-US" sz="1400" b="1" dirty="0">
                <a:solidFill>
                  <a:schemeClr val="accent5"/>
                </a:solidFill>
              </a:rPr>
              <a:t>말로 물으면</a:t>
            </a:r>
            <a:endParaRPr lang="en-US" sz="1400" dirty="0"/>
          </a:p>
        </p:txBody>
      </p:sp>
      <p:sp>
        <p:nvSpPr>
          <p:cNvPr id="19" name="s4-b2"/>
          <p:cNvSpPr/>
          <p:nvPr/>
        </p:nvSpPr>
        <p:spPr>
          <a:xfrm>
            <a:off x="7094030" y="1783080"/>
            <a:ext cx="777240" cy="777240"/>
          </a:xfrm>
          <a:prstGeom prst="ellipse">
            <a:avLst/>
          </a:prstGeom>
          <a:solidFill>
            <a:schemeClr val="accent1"/>
          </a:solidFill>
          <a:ln w="12700">
            <a:solidFill>
              <a:schemeClr val="accent1"/>
            </a:solidFill>
            <a:prstDash val="solid"/>
          </a:ln>
        </p:spPr>
      </p:sp>
      <p:sp>
        <p:nvSpPr>
          <p:cNvPr id="20" name="s4-b2-t"/>
          <p:cNvSpPr txBox="1"/>
          <p:nvPr/>
        </p:nvSpPr>
        <p:spPr>
          <a:xfrm>
            <a:off x="7094030" y="1783080"/>
            <a:ext cx="777240" cy="777240"/>
          </a:xfrm>
          <a:prstGeom prst="rect">
            <a:avLst/>
          </a:prstGeom>
          <a:noFill/>
          <a:ln/>
        </p:spPr>
        <p:txBody>
          <a:bodyPr wrap="square" lIns="0" tIns="0" rIns="0" bIns="0" rtlCol="0" anchor="ctr"/>
          <a:lstStyle/>
          <a:p>
            <a:pPr algn="ctr" indent="0" marL="0">
              <a:buNone/>
            </a:pPr>
            <a:r>
              <a:rPr lang="en-US" sz="1800" b="1" dirty="0">
                <a:solidFill>
                  <a:schemeClr val="bg1"/>
                </a:solidFill>
              </a:rPr>
              <a:t>R3</a:t>
            </a:r>
            <a:endParaRPr lang="en-US" sz="1800" dirty="0"/>
          </a:p>
        </p:txBody>
      </p:sp>
      <p:sp>
        <p:nvSpPr>
          <p:cNvPr id="21" name="s4-verb2"/>
          <p:cNvSpPr txBox="1"/>
          <p:nvPr/>
        </p:nvSpPr>
        <p:spPr>
          <a:xfrm>
            <a:off x="6187288" y="2697480"/>
            <a:ext cx="2590724" cy="502920"/>
          </a:xfrm>
          <a:prstGeom prst="rect">
            <a:avLst/>
          </a:prstGeom>
          <a:noFill/>
          <a:ln/>
        </p:spPr>
        <p:txBody>
          <a:bodyPr wrap="square" lIns="1270" tIns="1270" rIns="1270" bIns="1270" rtlCol="0" anchor="t"/>
          <a:lstStyle/>
          <a:p>
            <a:pPr algn="ctr" indent="0" marL="0">
              <a:buNone/>
            </a:pPr>
            <a:r>
              <a:rPr lang="en-US" sz="2200" b="1" dirty="0">
                <a:solidFill>
                  <a:schemeClr val="tx2"/>
                </a:solidFill>
              </a:rPr>
              <a:t>말로 해결한다</a:t>
            </a:r>
            <a:endParaRPr lang="en-US" sz="2200" dirty="0"/>
          </a:p>
        </p:txBody>
      </p:sp>
      <p:sp>
        <p:nvSpPr>
          <p:cNvPr id="22" name="s4-desc2"/>
          <p:cNvSpPr txBox="1"/>
          <p:nvPr/>
        </p:nvSpPr>
        <p:spPr>
          <a:xfrm>
            <a:off x="6278728" y="3246120"/>
            <a:ext cx="2407844" cy="1234440"/>
          </a:xfrm>
          <a:prstGeom prst="rect">
            <a:avLst/>
          </a:prstGeom>
          <a:noFill/>
          <a:ln/>
        </p:spPr>
        <p:txBody>
          <a:bodyPr wrap="square" lIns="1270" tIns="1270" rIns="1270" bIns="1270" rtlCol="0" anchor="t"/>
          <a:lstStyle/>
          <a:p>
            <a:pPr indent="0" marL="0">
              <a:buNone/>
            </a:pPr>
            <a:r>
              <a:rPr lang="en-US" sz="1400" dirty="0">
                <a:solidFill>
                  <a:schemeClr val="tx1"/>
                </a:solidFill>
              </a:rPr>
              <a:t>마이크로 생활 언어를 말하면 AI가 목적을 파악해 필요한 버튼을 하이라이트한다</a:t>
            </a:r>
            <a:endParaRPr lang="en-US" sz="1400" dirty="0"/>
          </a:p>
        </p:txBody>
      </p:sp>
      <p:sp>
        <p:nvSpPr>
          <p:cNvPr id="23" name="s4-rule2"/>
          <p:cNvSpPr/>
          <p:nvPr/>
        </p:nvSpPr>
        <p:spPr>
          <a:xfrm>
            <a:off x="6278728" y="4572000"/>
            <a:ext cx="2407844" cy="1097280"/>
          </a:xfrm>
          <a:prstGeom prst="roundRect">
            <a:avLst>
              <a:gd name="adj" fmla="val 10000"/>
            </a:avLst>
          </a:prstGeom>
          <a:solidFill>
            <a:schemeClr val="bg2"/>
          </a:solidFill>
          <a:ln w="12700">
            <a:solidFill>
              <a:schemeClr val="bg2"/>
            </a:solidFill>
            <a:prstDash val="solid"/>
          </a:ln>
        </p:spPr>
      </p:sp>
      <p:sp>
        <p:nvSpPr>
          <p:cNvPr id="24" name="s4-rule-t2"/>
          <p:cNvSpPr txBox="1"/>
          <p:nvPr/>
        </p:nvSpPr>
        <p:spPr>
          <a:xfrm>
            <a:off x="6324448" y="4572000"/>
            <a:ext cx="2316404" cy="1097280"/>
          </a:xfrm>
          <a:prstGeom prst="rect">
            <a:avLst/>
          </a:prstGeom>
          <a:noFill/>
          <a:ln/>
        </p:spPr>
        <p:txBody>
          <a:bodyPr wrap="square" lIns="1270" tIns="1270" rIns="1270" bIns="1270" rtlCol="0" anchor="ctr"/>
          <a:lstStyle/>
          <a:p>
            <a:pPr indent="0" marL="0">
              <a:buNone/>
            </a:pPr>
            <a:r>
              <a:rPr lang="en-US" sz="1200" b="1" dirty="0">
                <a:solidFill>
                  <a:schemeClr val="accent1"/>
                </a:solidFill>
              </a:rPr>
              <a:t>기준  </a:t>
            </a:r>
            <a:pPr indent="0" marL="0">
              <a:buNone/>
            </a:pPr>
            <a:r>
              <a:rPr lang="en-US" sz="1200" dirty="0">
                <a:solidFill>
                  <a:schemeClr val="tx1"/>
                </a:solidFill>
              </a:rPr>
              <a:t>검증된 메뉴 목록 안에서만 안내, 거래는 실행하지 않음</a:t>
            </a:r>
            <a:endParaRPr lang="en-US" sz="1200" dirty="0"/>
          </a:p>
        </p:txBody>
      </p:sp>
      <p:sp>
        <p:nvSpPr>
          <p:cNvPr id="25" name="s4-when3"/>
          <p:cNvSpPr txBox="1"/>
          <p:nvPr/>
        </p:nvSpPr>
        <p:spPr>
          <a:xfrm>
            <a:off x="8869451" y="1325880"/>
            <a:ext cx="2773604" cy="411480"/>
          </a:xfrm>
          <a:prstGeom prst="rect">
            <a:avLst/>
          </a:prstGeom>
          <a:noFill/>
          <a:ln/>
        </p:spPr>
        <p:txBody>
          <a:bodyPr wrap="square" lIns="1270" tIns="1270" rIns="1270" bIns="1270" rtlCol="0" anchor="t"/>
          <a:lstStyle/>
          <a:p>
            <a:pPr algn="ctr" indent="0" marL="0">
              <a:buNone/>
            </a:pPr>
            <a:r>
              <a:rPr lang="en-US" sz="1400" b="1" dirty="0">
                <a:solidFill>
                  <a:schemeClr val="accent5"/>
                </a:solidFill>
              </a:rPr>
              <a:t>그래도 막히면</a:t>
            </a:r>
            <a:endParaRPr lang="en-US" sz="1400" dirty="0"/>
          </a:p>
        </p:txBody>
      </p:sp>
      <p:sp>
        <p:nvSpPr>
          <p:cNvPr id="26" name="s4-b3"/>
          <p:cNvSpPr/>
          <p:nvPr/>
        </p:nvSpPr>
        <p:spPr>
          <a:xfrm>
            <a:off x="9867633" y="1783080"/>
            <a:ext cx="777240" cy="777240"/>
          </a:xfrm>
          <a:prstGeom prst="ellipse">
            <a:avLst/>
          </a:prstGeom>
          <a:solidFill>
            <a:schemeClr val="accent3"/>
          </a:solidFill>
          <a:ln w="12700">
            <a:solidFill>
              <a:schemeClr val="accent3"/>
            </a:solidFill>
            <a:prstDash val="solid"/>
          </a:ln>
        </p:spPr>
      </p:sp>
      <p:sp>
        <p:nvSpPr>
          <p:cNvPr id="27" name="s4-b3-t"/>
          <p:cNvSpPr txBox="1"/>
          <p:nvPr/>
        </p:nvSpPr>
        <p:spPr>
          <a:xfrm>
            <a:off x="9867633" y="1783080"/>
            <a:ext cx="777240" cy="777240"/>
          </a:xfrm>
          <a:prstGeom prst="rect">
            <a:avLst/>
          </a:prstGeom>
          <a:noFill/>
          <a:ln/>
        </p:spPr>
        <p:txBody>
          <a:bodyPr wrap="square" lIns="0" tIns="0" rIns="0" bIns="0" rtlCol="0" anchor="ctr"/>
          <a:lstStyle/>
          <a:p>
            <a:pPr algn="ctr" indent="0" marL="0">
              <a:buNone/>
            </a:pPr>
            <a:r>
              <a:rPr lang="en-US" sz="1800" b="1" dirty="0">
                <a:solidFill>
                  <a:schemeClr val="bg1"/>
                </a:solidFill>
              </a:rPr>
              <a:t>R4</a:t>
            </a:r>
            <a:endParaRPr lang="en-US" sz="1800" dirty="0"/>
          </a:p>
        </p:txBody>
      </p:sp>
      <p:sp>
        <p:nvSpPr>
          <p:cNvPr id="28" name="s4-verb3"/>
          <p:cNvSpPr txBox="1"/>
          <p:nvPr/>
        </p:nvSpPr>
        <p:spPr>
          <a:xfrm>
            <a:off x="8960891" y="2697480"/>
            <a:ext cx="2590724" cy="502920"/>
          </a:xfrm>
          <a:prstGeom prst="rect">
            <a:avLst/>
          </a:prstGeom>
          <a:noFill/>
          <a:ln/>
        </p:spPr>
        <p:txBody>
          <a:bodyPr wrap="square" lIns="1270" tIns="1270" rIns="1270" bIns="1270" rtlCol="0" anchor="t"/>
          <a:lstStyle/>
          <a:p>
            <a:pPr algn="ctr" indent="0" marL="0">
              <a:buNone/>
            </a:pPr>
            <a:r>
              <a:rPr lang="en-US" sz="2200" b="1" dirty="0">
                <a:solidFill>
                  <a:schemeClr val="tx2"/>
                </a:solidFill>
              </a:rPr>
              <a:t>이어서 넘긴다</a:t>
            </a:r>
            <a:endParaRPr lang="en-US" sz="2200" dirty="0"/>
          </a:p>
        </p:txBody>
      </p:sp>
      <p:sp>
        <p:nvSpPr>
          <p:cNvPr id="29" name="s4-desc3"/>
          <p:cNvSpPr txBox="1"/>
          <p:nvPr/>
        </p:nvSpPr>
        <p:spPr>
          <a:xfrm>
            <a:off x="9052331" y="3246120"/>
            <a:ext cx="2407844" cy="1234440"/>
          </a:xfrm>
          <a:prstGeom prst="rect">
            <a:avLst/>
          </a:prstGeom>
          <a:noFill/>
          <a:ln/>
        </p:spPr>
        <p:txBody>
          <a:bodyPr wrap="square" lIns="1270" tIns="1270" rIns="1270" bIns="1270" rtlCol="0" anchor="t"/>
          <a:lstStyle/>
          <a:p>
            <a:pPr indent="0" marL="0">
              <a:buNone/>
            </a:pPr>
            <a:r>
              <a:rPr lang="en-US" sz="1400" dirty="0">
                <a:solidFill>
                  <a:schemeClr val="tx1"/>
                </a:solidFill>
              </a:rPr>
              <a:t>대화를 목적·오류·시도한 조치로 요약해 상담사에게 전달한다</a:t>
            </a:r>
            <a:endParaRPr lang="en-US" sz="1400" dirty="0"/>
          </a:p>
        </p:txBody>
      </p:sp>
      <p:sp>
        <p:nvSpPr>
          <p:cNvPr id="30" name="s4-rule3"/>
          <p:cNvSpPr/>
          <p:nvPr/>
        </p:nvSpPr>
        <p:spPr>
          <a:xfrm>
            <a:off x="9052331" y="4572000"/>
            <a:ext cx="2407844" cy="1097280"/>
          </a:xfrm>
          <a:prstGeom prst="roundRect">
            <a:avLst>
              <a:gd name="adj" fmla="val 10000"/>
            </a:avLst>
          </a:prstGeom>
          <a:solidFill>
            <a:schemeClr val="bg2"/>
          </a:solidFill>
          <a:ln w="12700">
            <a:solidFill>
              <a:schemeClr val="bg2"/>
            </a:solidFill>
            <a:prstDash val="solid"/>
          </a:ln>
        </p:spPr>
      </p:sp>
      <p:sp>
        <p:nvSpPr>
          <p:cNvPr id="31" name="s4-rule-t3"/>
          <p:cNvSpPr txBox="1"/>
          <p:nvPr/>
        </p:nvSpPr>
        <p:spPr>
          <a:xfrm>
            <a:off x="9098051" y="4572000"/>
            <a:ext cx="2316404" cy="1097280"/>
          </a:xfrm>
          <a:prstGeom prst="rect">
            <a:avLst/>
          </a:prstGeom>
          <a:noFill/>
          <a:ln/>
        </p:spPr>
        <p:txBody>
          <a:bodyPr wrap="square" lIns="1270" tIns="1270" rIns="1270" bIns="1270" rtlCol="0" anchor="ctr"/>
          <a:lstStyle/>
          <a:p>
            <a:pPr indent="0" marL="0">
              <a:buNone/>
            </a:pPr>
            <a:r>
              <a:rPr lang="en-US" sz="1200" b="1" dirty="0">
                <a:solidFill>
                  <a:schemeClr val="accent1"/>
                </a:solidFill>
              </a:rPr>
              <a:t>기준  </a:t>
            </a:r>
            <a:pPr indent="0" marL="0">
              <a:buNone/>
            </a:pPr>
            <a:r>
              <a:rPr lang="en-US" sz="1200" dirty="0">
                <a:solidFill>
                  <a:schemeClr val="tx1"/>
                </a:solidFill>
              </a:rPr>
              <a:t>상담 요청 또는 ‘찾지 못함’ 2번 연속 시 제안, 고객이 [전달]할 때만</a:t>
            </a:r>
            <a:endParaRPr lang="en-US" sz="1200" dirty="0"/>
          </a:p>
        </p:txBody>
      </p:sp>
      <p:sp>
        <p:nvSpPr>
          <p:cNvPr id="32" name="s4-foot"/>
          <p:cNvSpPr txBox="1"/>
          <p:nvPr/>
        </p:nvSpPr>
        <p:spPr>
          <a:xfrm>
            <a:off x="548640" y="5806440"/>
            <a:ext cx="11094415" cy="411480"/>
          </a:xfrm>
          <a:prstGeom prst="rect">
            <a:avLst/>
          </a:prstGeom>
          <a:noFill/>
          <a:ln/>
        </p:spPr>
        <p:txBody>
          <a:bodyPr wrap="square" lIns="1270" tIns="1270" rIns="1270" bIns="1270" rtlCol="0" anchor="t"/>
          <a:lstStyle/>
          <a:p>
            <a:pPr indent="0" marL="0">
              <a:buNone/>
            </a:pPr>
            <a:r>
              <a:rPr lang="en-US" sz="1200" dirty="0">
                <a:solidFill>
                  <a:schemeClr val="accent5"/>
                </a:solidFill>
              </a:rPr>
              <a:t>모든 기준은 SPEC.md 1장에 경계값이 들어간 예시표로 정리했다. 고객은 어느 단계에서도 처음부터 다시 시작하지 않는다.</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indent="0" marL="0">
              <a:buNone/>
            </a:pPr>
            <a:r>
              <a:rPr lang="en-US" sz="3200" b="1" dirty="0">
                <a:solidFill>
                  <a:schemeClr val="tx2"/>
                </a:solidFill>
              </a:rPr>
              <a:t>왜 이 방법인가</a:t>
            </a:r>
            <a:endParaRPr lang="en-US" sz="3200" dirty="0"/>
          </a:p>
        </p:txBody>
      </p:sp>
      <p:sp>
        <p:nvSpPr>
          <p:cNvPr id="3" name="s5-b0"/>
          <p:cNvSpPr/>
          <p:nvPr/>
        </p:nvSpPr>
        <p:spPr>
          <a:xfrm>
            <a:off x="548640" y="1554480"/>
            <a:ext cx="914400" cy="914400"/>
          </a:xfrm>
          <a:prstGeom prst="ellipse">
            <a:avLst/>
          </a:prstGeom>
          <a:solidFill>
            <a:schemeClr val="accent1"/>
          </a:solidFill>
          <a:ln w="12700">
            <a:solidFill>
              <a:schemeClr val="accent1"/>
            </a:solidFill>
            <a:prstDash val="solid"/>
          </a:ln>
        </p:spPr>
      </p:sp>
      <p:sp>
        <p:nvSpPr>
          <p:cNvPr id="4" name="s5-b0-t"/>
          <p:cNvSpPr txBox="1"/>
          <p:nvPr/>
        </p:nvSpPr>
        <p:spPr>
          <a:xfrm>
            <a:off x="548640" y="1554480"/>
            <a:ext cx="914400" cy="914400"/>
          </a:xfrm>
          <a:prstGeom prst="rect">
            <a:avLst/>
          </a:prstGeom>
          <a:noFill/>
          <a:ln/>
        </p:spPr>
        <p:txBody>
          <a:bodyPr wrap="square" lIns="0" tIns="0" rIns="0" bIns="0" rtlCol="0" anchor="ctr"/>
          <a:lstStyle/>
          <a:p>
            <a:pPr algn="ctr" indent="0" marL="0">
              <a:buNone/>
            </a:pPr>
            <a:r>
              <a:rPr lang="en-US" sz="1600" b="1" dirty="0">
                <a:solidFill>
                  <a:schemeClr val="bg1"/>
                </a:solidFill>
              </a:rPr>
              <a:t>능동</a:t>
            </a:r>
            <a:endParaRPr lang="en-US" sz="1600" dirty="0"/>
          </a:p>
        </p:txBody>
      </p:sp>
      <p:sp>
        <p:nvSpPr>
          <p:cNvPr id="5" name="s5-h0"/>
          <p:cNvSpPr txBox="1"/>
          <p:nvPr/>
        </p:nvSpPr>
        <p:spPr>
          <a:xfrm>
            <a:off x="1737360" y="1463040"/>
            <a:ext cx="9905695" cy="457200"/>
          </a:xfrm>
          <a:prstGeom prst="rect">
            <a:avLst/>
          </a:prstGeom>
          <a:noFill/>
          <a:ln/>
        </p:spPr>
        <p:txBody>
          <a:bodyPr wrap="square" lIns="1270" tIns="1270" rIns="1270" bIns="1270" rtlCol="0" anchor="t"/>
          <a:lstStyle/>
          <a:p>
            <a:pPr indent="0" marL="0">
              <a:buNone/>
            </a:pPr>
            <a:r>
              <a:rPr lang="en-US" sz="2000" b="1" dirty="0">
                <a:solidFill>
                  <a:schemeClr val="tx2"/>
                </a:solidFill>
              </a:rPr>
              <a:t>먼저 다가가야 한다</a:t>
            </a:r>
            <a:endParaRPr lang="en-US" sz="2000" dirty="0"/>
          </a:p>
        </p:txBody>
      </p:sp>
      <p:sp>
        <p:nvSpPr>
          <p:cNvPr id="6" name="s5-p0"/>
          <p:cNvSpPr txBox="1"/>
          <p:nvPr/>
        </p:nvSpPr>
        <p:spPr>
          <a:xfrm>
            <a:off x="1737360" y="1920240"/>
            <a:ext cx="9905695" cy="1051560"/>
          </a:xfrm>
          <a:prstGeom prst="rect">
            <a:avLst/>
          </a:prstGeom>
          <a:noFill/>
          <a:ln/>
        </p:spPr>
        <p:txBody>
          <a:bodyPr wrap="square" lIns="1270" tIns="1270" rIns="1270" bIns="1270" rtlCol="0" anchor="t"/>
          <a:lstStyle/>
          <a:p>
            <a:pPr indent="0" marL="0">
              <a:buNone/>
            </a:pPr>
            <a:r>
              <a:rPr lang="en-US" sz="1500" dirty="0">
                <a:solidFill>
                  <a:schemeClr val="tx1"/>
                </a:solidFill>
              </a:rPr>
              <a:t>기능을 못 찾는 사람은 무엇을 물어야 할지도 모른다. 질문을 기다리지 않고, 같은 화면을 반복해 오가는 행동 신호로 막힘을 먼저 알아챈다.</a:t>
            </a:r>
            <a:endParaRPr lang="en-US" sz="1500" dirty="0"/>
          </a:p>
        </p:txBody>
      </p:sp>
      <p:sp>
        <p:nvSpPr>
          <p:cNvPr id="7" name="s5-b1"/>
          <p:cNvSpPr/>
          <p:nvPr/>
        </p:nvSpPr>
        <p:spPr>
          <a:xfrm>
            <a:off x="548640" y="3154680"/>
            <a:ext cx="914400" cy="914400"/>
          </a:xfrm>
          <a:prstGeom prst="ellipse">
            <a:avLst/>
          </a:prstGeom>
          <a:solidFill>
            <a:schemeClr val="accent3"/>
          </a:solidFill>
          <a:ln w="12700">
            <a:solidFill>
              <a:schemeClr val="accent3"/>
            </a:solidFill>
            <a:prstDash val="solid"/>
          </a:ln>
        </p:spPr>
      </p:sp>
      <p:sp>
        <p:nvSpPr>
          <p:cNvPr id="8" name="s5-b1-t"/>
          <p:cNvSpPr txBox="1"/>
          <p:nvPr/>
        </p:nvSpPr>
        <p:spPr>
          <a:xfrm>
            <a:off x="548640" y="3154680"/>
            <a:ext cx="914400" cy="914400"/>
          </a:xfrm>
          <a:prstGeom prst="rect">
            <a:avLst/>
          </a:prstGeom>
          <a:noFill/>
          <a:ln/>
        </p:spPr>
        <p:txBody>
          <a:bodyPr wrap="square" lIns="0" tIns="0" rIns="0" bIns="0" rtlCol="0" anchor="ctr"/>
          <a:lstStyle/>
          <a:p>
            <a:pPr algn="ctr" indent="0" marL="0">
              <a:buNone/>
            </a:pPr>
            <a:r>
              <a:rPr lang="en-US" sz="1600" b="1" dirty="0">
                <a:solidFill>
                  <a:schemeClr val="bg1"/>
                </a:solidFill>
              </a:rPr>
              <a:t>AI</a:t>
            </a:r>
            <a:endParaRPr lang="en-US" sz="1600" dirty="0"/>
          </a:p>
        </p:txBody>
      </p:sp>
      <p:sp>
        <p:nvSpPr>
          <p:cNvPr id="9" name="s5-h1"/>
          <p:cNvSpPr txBox="1"/>
          <p:nvPr/>
        </p:nvSpPr>
        <p:spPr>
          <a:xfrm>
            <a:off x="1737360" y="3063240"/>
            <a:ext cx="9905695" cy="457200"/>
          </a:xfrm>
          <a:prstGeom prst="rect">
            <a:avLst/>
          </a:prstGeom>
          <a:noFill/>
          <a:ln/>
        </p:spPr>
        <p:txBody>
          <a:bodyPr wrap="square" lIns="1270" tIns="1270" rIns="1270" bIns="1270" rtlCol="0" anchor="t"/>
          <a:lstStyle/>
          <a:p>
            <a:pPr indent="0" marL="0">
              <a:buNone/>
            </a:pPr>
            <a:r>
              <a:rPr lang="en-US" sz="2000" b="1" dirty="0">
                <a:solidFill>
                  <a:schemeClr val="tx2"/>
                </a:solidFill>
              </a:rPr>
              <a:t>AI가 꼭 필요하다</a:t>
            </a:r>
            <a:endParaRPr lang="en-US" sz="2000" dirty="0"/>
          </a:p>
        </p:txBody>
      </p:sp>
      <p:sp>
        <p:nvSpPr>
          <p:cNvPr id="10" name="s5-p1"/>
          <p:cNvSpPr txBox="1"/>
          <p:nvPr/>
        </p:nvSpPr>
        <p:spPr>
          <a:xfrm>
            <a:off x="1737360" y="3520440"/>
            <a:ext cx="9905695" cy="1051560"/>
          </a:xfrm>
          <a:prstGeom prst="rect">
            <a:avLst/>
          </a:prstGeom>
          <a:noFill/>
          <a:ln/>
        </p:spPr>
        <p:txBody>
          <a:bodyPr wrap="square" lIns="1270" tIns="1270" rIns="1270" bIns="1270" rtlCol="0" anchor="t"/>
          <a:lstStyle/>
          <a:p>
            <a:pPr indent="0" marL="0">
              <a:buNone/>
            </a:pPr>
            <a:r>
              <a:rPr lang="en-US" sz="1500" dirty="0">
                <a:solidFill>
                  <a:schemeClr val="tx1"/>
                </a:solidFill>
              </a:rPr>
              <a:t>‘통장에 돈 얼마 있는지’ 같은 생활 언어를 정확한 메뉴로 바꾸고, 흩어진 대화를 목적·오류·시도한 조치로 요약하는 일은 정해진 규칙만으로는 어렵다.</a:t>
            </a:r>
            <a:endParaRPr lang="en-US" sz="1500" dirty="0"/>
          </a:p>
        </p:txBody>
      </p:sp>
      <p:sp>
        <p:nvSpPr>
          <p:cNvPr id="11" name="s5-b2"/>
          <p:cNvSpPr/>
          <p:nvPr/>
        </p:nvSpPr>
        <p:spPr>
          <a:xfrm>
            <a:off x="548640" y="4754880"/>
            <a:ext cx="914400" cy="914400"/>
          </a:xfrm>
          <a:prstGeom prst="ellipse">
            <a:avLst/>
          </a:prstGeom>
          <a:solidFill>
            <a:schemeClr val="accent2"/>
          </a:solidFill>
          <a:ln w="12700">
            <a:solidFill>
              <a:schemeClr val="accent2"/>
            </a:solidFill>
            <a:prstDash val="solid"/>
          </a:ln>
        </p:spPr>
      </p:sp>
      <p:sp>
        <p:nvSpPr>
          <p:cNvPr id="12" name="s5-b2-t"/>
          <p:cNvSpPr txBox="1"/>
          <p:nvPr/>
        </p:nvSpPr>
        <p:spPr>
          <a:xfrm>
            <a:off x="548640" y="4754880"/>
            <a:ext cx="914400" cy="914400"/>
          </a:xfrm>
          <a:prstGeom prst="rect">
            <a:avLst/>
          </a:prstGeom>
          <a:noFill/>
          <a:ln/>
        </p:spPr>
        <p:txBody>
          <a:bodyPr wrap="square" lIns="0" tIns="0" rIns="0" bIns="0" rtlCol="0" anchor="ctr"/>
          <a:lstStyle/>
          <a:p>
            <a:pPr algn="ctr" indent="0" marL="0">
              <a:buNone/>
            </a:pPr>
            <a:r>
              <a:rPr lang="en-US" sz="1600" b="1" dirty="0">
                <a:solidFill>
                  <a:schemeClr val="bg1"/>
                </a:solidFill>
              </a:rPr>
              <a:t>신뢰</a:t>
            </a:r>
            <a:endParaRPr lang="en-US" sz="1600" dirty="0"/>
          </a:p>
        </p:txBody>
      </p:sp>
      <p:sp>
        <p:nvSpPr>
          <p:cNvPr id="13" name="s5-h2"/>
          <p:cNvSpPr txBox="1"/>
          <p:nvPr/>
        </p:nvSpPr>
        <p:spPr>
          <a:xfrm>
            <a:off x="1737360" y="4663440"/>
            <a:ext cx="9905695" cy="457200"/>
          </a:xfrm>
          <a:prstGeom prst="rect">
            <a:avLst/>
          </a:prstGeom>
          <a:noFill/>
          <a:ln/>
        </p:spPr>
        <p:txBody>
          <a:bodyPr wrap="square" lIns="1270" tIns="1270" rIns="1270" bIns="1270" rtlCol="0" anchor="t"/>
          <a:lstStyle/>
          <a:p>
            <a:pPr indent="0" marL="0">
              <a:buNone/>
            </a:pPr>
            <a:r>
              <a:rPr lang="en-US" sz="2000" b="1" dirty="0">
                <a:solidFill>
                  <a:schemeClr val="tx2"/>
                </a:solidFill>
              </a:rPr>
              <a:t>빠른 것보다 믿을 수 있어야 한다</a:t>
            </a:r>
            <a:endParaRPr lang="en-US" sz="2000" dirty="0"/>
          </a:p>
        </p:txBody>
      </p:sp>
      <p:sp>
        <p:nvSpPr>
          <p:cNvPr id="14" name="s5-p2"/>
          <p:cNvSpPr txBox="1"/>
          <p:nvPr/>
        </p:nvSpPr>
        <p:spPr>
          <a:xfrm>
            <a:off x="1737360" y="5120640"/>
            <a:ext cx="9905695" cy="1051560"/>
          </a:xfrm>
          <a:prstGeom prst="rect">
            <a:avLst/>
          </a:prstGeom>
          <a:noFill/>
          <a:ln/>
        </p:spPr>
        <p:txBody>
          <a:bodyPr wrap="square" lIns="1270" tIns="1270" rIns="1270" bIns="1270" rtlCol="0" anchor="t"/>
          <a:lstStyle/>
          <a:p>
            <a:pPr indent="0" marL="0">
              <a:buNone/>
            </a:pPr>
            <a:r>
              <a:rPr lang="en-US" sz="1500" dirty="0">
                <a:solidFill>
                  <a:schemeClr val="tx1"/>
                </a:solidFill>
              </a:rPr>
              <a:t>빠른 AI 상담을 도입했다가 품질 문제로 사람 상담원을 다시 뽑은 사례(Klarna)와 리뷰 속 챗봇 불만이 근거다. 그래서 목록 안에서만 안내하고, 거래는 실행하지 않고, 전달 전에 고객이 확인한다.</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WON Take">
  <a:themeElements>
    <a:clrScheme name="WON Take">
      <a:dk1>
        <a:srgbClr val="1B2430"/>
      </a:dk1>
      <a:lt1>
        <a:srgbClr val="FFFFFF"/>
      </a:lt1>
      <a:dk2>
        <a:srgbClr val="0F2A4A"/>
      </a:dk2>
      <a:lt2>
        <a:srgbClr val="EAF2FB"/>
      </a:lt2>
      <a:accent1>
        <a:srgbClr val="1E6FD9"/>
      </a:accent1>
      <a:accent2>
        <a:srgbClr val="E8553D"/>
      </a:accent2>
      <a:accent3>
        <a:srgbClr val="12A38A"/>
      </a:accent3>
      <a:accent4>
        <a:srgbClr val="F2B33D"/>
      </a:accent4>
      <a:accent5>
        <a:srgbClr val="6B7687"/>
      </a:accent5>
      <a:accent6>
        <a:srgbClr val="0F2A4A"/>
      </a:accent6>
      <a:hlink>
        <a:srgbClr val="1E6FD9"/>
      </a:hlink>
      <a:folHlink>
        <a:srgbClr val="6B7687"/>
      </a:folHlink>
    </a:clrScheme>
    <a:fontScheme name="WON Tak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WON테이크 주제 검토</dc:title>
  <dc:subject>PptxGenJS Presentation</dc:subject>
  <dc:creator>PptxGenJS</dc:creator>
  <cp:lastModifiedBy>PptxGenJS</cp:lastModifiedBy>
  <cp:revision>1</cp:revision>
  <dcterms:created xsi:type="dcterms:W3CDTF">2026-10-26T05:57:13Z</dcterms:created>
  <dcterms:modified xsi:type="dcterms:W3CDTF">2026-10-26T05:57:13Z</dcterms:modified>
</cp:coreProperties>
</file>